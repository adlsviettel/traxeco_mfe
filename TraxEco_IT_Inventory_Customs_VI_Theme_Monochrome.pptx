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728655" cy="329184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37160" cy="329184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99971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ACC15"/>
                </a:solidFill>
                <a:latin typeface="Segoe UI"/>
              </a:defRPr>
            </a:pPr>
            <a:r>
              <a:t>THÔNG TƯ PER-24/BC/2023 CỦA HẢI QUAN INDONESIA</a:t>
            </a:r>
          </a:p>
          <a:p>
            <a:pPr>
              <a:spcAft>
                <a:spcPts val="1000"/>
              </a:spcAft>
              <a:defRPr sz="2400" b="1">
                <a:solidFill>
                  <a:srgbClr val="FFFFFF"/>
                </a:solidFill>
                <a:latin typeface="Segoe UI"/>
              </a:defRPr>
            </a:pPr>
            <a:r>
              <a:t>BÁO CÁO THUYẾT MINH MỨC ĐỘ ĐÁP ỨNG QUY ĐỊNH IT INVENTORY</a:t>
            </a:r>
          </a:p>
          <a:p>
            <a:pPr>
              <a:spcAft>
                <a:spcPts val="1600"/>
              </a:spcAft>
              <a:defRPr sz="1300">
                <a:solidFill>
                  <a:srgbClr val="A1A1AA"/>
                </a:solidFill>
                <a:latin typeface="Segoe UI"/>
              </a:defRPr>
            </a:pPr>
            <a:r>
              <a:t>Trích dẫn Pháp lý PER-24/BC/2023 &amp; Giải pháp Thực tế tại Nhà máy TSI / TraxEco</a:t>
            </a:r>
          </a:p>
          <a:p>
            <a:pPr>
              <a:defRPr sz="1200" b="1">
                <a:solidFill>
                  <a:srgbClr val="34D399"/>
                </a:solidFill>
                <a:latin typeface="Segoe UI"/>
              </a:defRPr>
            </a:pPr>
            <a:r>
              <a:t>Bộ phận Quản lý Kho &amp; Kế toán Nhà máy | Công ty TSI / TraxEco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297680"/>
            <a:ext cx="3413455" cy="201168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spcAft>
                <a:spcPts val="600"/>
              </a:spcAft>
              <a:defRPr sz="1150" b="1">
                <a:solidFill>
                  <a:srgbClr val="FACC15"/>
                </a:solidFill>
                <a:latin typeface="Segoe UI"/>
              </a:defRPr>
            </a:pPr>
            <a:r>
              <a:t>100% SỔ SÁCH KẾ TOÁN</a:t>
            </a:r>
          </a:p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Tích hợp trực tiếp từ Sổ Kế toán Nhà máy AXDB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297680"/>
            <a:ext cx="91440" cy="201168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0" y="4297680"/>
            <a:ext cx="3413455" cy="201168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spcAft>
                <a:spcPts val="600"/>
              </a:spcAft>
              <a:defRPr sz="1150" b="1">
                <a:solidFill>
                  <a:srgbClr val="FACC15"/>
                </a:solidFill>
                <a:latin typeface="Segoe UI"/>
              </a:defRPr>
            </a:pPr>
            <a:r>
              <a:t>CA ĐÊM 5:00 AM CUTOFF</a:t>
            </a:r>
          </a:p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Khớp sản lượng ca đêm 100% với bãi kho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4297680"/>
            <a:ext cx="91440" cy="201168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4297680"/>
            <a:ext cx="3413455" cy="201168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spcAft>
                <a:spcPts val="600"/>
              </a:spcAft>
              <a:defRPr sz="1150" b="1">
                <a:solidFill>
                  <a:srgbClr val="34D399"/>
                </a:solidFill>
                <a:latin typeface="Segoe UI"/>
              </a:defRPr>
            </a:pPr>
            <a:r>
              <a:t>KHÓA PUSH CEISA 4.0</a:t>
            </a:r>
          </a:p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Loại bỏ hoàn toàn rủi ro truyền nhầm INSW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4297680"/>
            <a:ext cx="91440" cy="20116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1097280" cy="73152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8229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ACC15"/>
                </a:solidFill>
                <a:latin typeface="Segoe UI"/>
              </a:defRPr>
            </a:pPr>
            <a:r>
              <a:t>01 • PASAL 2(2) &amp; 4(1)E</a:t>
            </a:r>
          </a:p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t>Tích hợp Hệ thống Thông tin Kế toán &amp; Vòng đời Vật tư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2499055" cy="100584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spcAft>
                <a:spcPts val="200"/>
              </a:spcAft>
              <a:defRPr sz="1100" b="1">
                <a:solidFill>
                  <a:srgbClr val="FACC15"/>
                </a:solidFill>
                <a:latin typeface="Segoe UI"/>
              </a:defRPr>
            </a:pPr>
            <a:r>
              <a:t>01. MUA NVL</a:t>
            </a:r>
          </a:p>
          <a:p>
            <a:pPr>
              <a:defRPr sz="950">
                <a:solidFill>
                  <a:srgbClr val="A1A1AA"/>
                </a:solidFill>
                <a:latin typeface="Segoe UI"/>
              </a:defRPr>
            </a:pPr>
            <a:r>
              <a:t>Nhập kho theo Tờ khai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2499055" cy="73152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74720" y="1234440"/>
            <a:ext cx="2499055" cy="100584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spcAft>
                <a:spcPts val="200"/>
              </a:spcAft>
              <a:defRPr sz="1100" b="1">
                <a:solidFill>
                  <a:srgbClr val="FACC15"/>
                </a:solidFill>
                <a:latin typeface="Segoe UI"/>
              </a:defRPr>
            </a:pPr>
            <a:r>
              <a:t>02. WIP LINE</a:t>
            </a:r>
          </a:p>
          <a:p>
            <a:pPr>
              <a:defRPr sz="950">
                <a:solidFill>
                  <a:srgbClr val="A1A1AA"/>
                </a:solidFill>
                <a:latin typeface="Segoe UI"/>
              </a:defRPr>
            </a:pPr>
            <a:r>
              <a:t>Xuất kho dùng Sản xuất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234440"/>
            <a:ext cx="2499055" cy="73152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234440"/>
            <a:ext cx="2499055" cy="100584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spcAft>
                <a:spcPts val="200"/>
              </a:spcAft>
              <a:defRPr sz="1100" b="1">
                <a:solidFill>
                  <a:srgbClr val="FACC15"/>
                </a:solidFill>
                <a:latin typeface="Segoe UI"/>
              </a:defRPr>
            </a:pPr>
            <a:r>
              <a:t>03. THÀNH PHẨM</a:t>
            </a:r>
          </a:p>
          <a:p>
            <a:pPr>
              <a:defRPr sz="950">
                <a:solidFill>
                  <a:srgbClr val="A1A1AA"/>
                </a:solidFill>
                <a:latin typeface="Segoe UI"/>
              </a:defRPr>
            </a:pPr>
            <a:r>
              <a:t>Nhập kho Thành phẩm FG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234440"/>
            <a:ext cx="2499055" cy="73152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0" y="1234440"/>
            <a:ext cx="2499055" cy="100584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spcAft>
                <a:spcPts val="200"/>
              </a:spcAft>
              <a:defRPr sz="1100" b="1">
                <a:solidFill>
                  <a:srgbClr val="FACC15"/>
                </a:solidFill>
                <a:latin typeface="Segoe UI"/>
              </a:defRPr>
            </a:pPr>
            <a:r>
              <a:t>04. PHẾ LIỆU &amp; OPNAME</a:t>
            </a:r>
          </a:p>
          <a:p>
            <a:pPr>
              <a:defRPr sz="950">
                <a:solidFill>
                  <a:srgbClr val="A1A1AA"/>
                </a:solidFill>
                <a:latin typeface="Segoe UI"/>
              </a:defRPr>
            </a:pPr>
            <a:r>
              <a:t>Báo phế &amp; Chốt kiểm kê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0" y="1234440"/>
            <a:ext cx="2499055" cy="73152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377440"/>
            <a:ext cx="10728655" cy="411480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erfec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468880"/>
            <a:ext cx="10545775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1097280" cy="73152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8229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ACC15"/>
                </a:solidFill>
                <a:latin typeface="Segoe UI"/>
              </a:defRPr>
            </a:pPr>
            <a:r>
              <a:t>02 • PASAL 4(1)B.3</a:t>
            </a:r>
          </a:p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t>Chuẩn hóa Kode Barang, HS Code &amp; Phân loại Nguồn gốc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3291840" cy="525780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spcAft>
                <a:spcPts val="800"/>
              </a:spcAft>
              <a:defRPr sz="1200" b="1">
                <a:solidFill>
                  <a:srgbClr val="EF4444"/>
                </a:solidFill>
                <a:latin typeface="Segoe UI"/>
              </a:defRPr>
            </a:pPr>
            <a:r>
              <a:t>📜 QUY ĐỊNH HẢI QUAN</a:t>
            </a:r>
            <a:br/>
            <a:r>
              <a:t>(PASAL 4 (1)b.3)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  <a:latin typeface="Segoe UI"/>
              </a:defRPr>
            </a:pPr>
            <a:r>
              <a:t>• Mã hàng hóa (Kode Barang) phải DÙNG NHẤT QUÁN giữa Tờ khai Hải quan và Sổ kho IT Inventory.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  <a:latin typeface="Segoe UI"/>
              </a:defRPr>
            </a:pPr>
            <a:r>
              <a:t>• Phải phân biệt rõ ràng Hàng nhập khẩu (Impor) vs Hàng mua nội địa (TLDDP).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  <a:latin typeface="Segoe UI"/>
              </a:defRPr>
            </a:pPr>
            <a:r>
              <a:t>• Phải phân biệt Hàng gia công sản xuất (Pengolahan) vs Hàng kho vận (Logistik).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91440" cy="5257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06240" y="1234440"/>
            <a:ext cx="3291840" cy="525780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spcAft>
                <a:spcPts val="800"/>
              </a:spcAft>
              <a:defRPr sz="1200" b="1">
                <a:solidFill>
                  <a:srgbClr val="34D399"/>
                </a:solidFill>
                <a:latin typeface="Segoe UI"/>
              </a:defRPr>
            </a:pPr>
            <a:r>
              <a:t>✅ IT INVENTORY ĐÁP ỨNG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  <a:latin typeface="Segoe UI"/>
              </a:defRPr>
            </a:pPr>
            <a:r>
              <a:t>✔ Danh mục Vật tư chuẩn hóa Kode Barang trùng khớp 100% với Tờ khai Hải quan.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  <a:latin typeface="Segoe UI"/>
              </a:defRPr>
            </a:pPr>
            <a:r>
              <a:t>✔ Tự động áp mã HS Code &amp; Đơn vị tính chuẩn Hải quan (PCS, YRD, KGM, Mét...).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  <a:latin typeface="Segoe UI"/>
              </a:defRPr>
            </a:pPr>
            <a:r>
              <a:t>✔ Phân loại Nguồn gốc Nhập khẩu vs Nội địa rõ ràng trên từng dòng chứng từ.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1234440"/>
            <a:ext cx="91440" cy="5257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0" y="1234440"/>
            <a:ext cx="3779215" cy="525780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erfect_master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25880"/>
            <a:ext cx="3596335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1097280" cy="73152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8229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ACC15"/>
                </a:solidFill>
                <a:latin typeface="Segoe UI"/>
              </a:defRPr>
            </a:pPr>
            <a:r>
              <a:t>03 • PASAL 4(1)C</a:t>
            </a:r>
          </a:p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t>Ghi nhận 7 Loại Giao dịch Kho &amp; Chốt sổ Ca đêm 5:00 AM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46304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228600"/>
          <a:lstStyle/>
          <a:p>
            <a:pPr algn="ctr">
              <a:spcAft>
                <a:spcPts val="400"/>
              </a:spcAft>
              <a:defRPr sz="1100" b="1">
                <a:solidFill>
                  <a:srgbClr val="FACC15"/>
                </a:solidFill>
                <a:latin typeface="Segoe UI"/>
              </a:defRPr>
            </a:pPr>
            <a:r>
              <a:t>📌 THUẬT TOÁN CHỐT SỔ CA ĐÊM 5:00 AM (SHIFT CUTOFF FORMULA)</a:t>
            </a:r>
          </a:p>
          <a:p>
            <a:pPr>
              <a:spcAft>
                <a:spcPts val="400"/>
              </a:spcAft>
              <a:defRPr sz="1050" b="1">
                <a:solidFill>
                  <a:srgbClr val="34D399"/>
                </a:solidFill>
                <a:latin typeface="Segoe UI"/>
              </a:defRPr>
            </a:pPr>
            <a:r>
              <a:t>Công thức chốt sổ kho AXDB: DATEADD(hour, -5, t.MODIFIEDDATETIME)  |  Khung giờ: 05:00 AM Hôm nay ➔ 05:00 AM Hôm sau</a:t>
            </a:r>
          </a:p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Đảm bảo toàn bộ sản lượng sản xuất ca đêm qua 12h đêm được gom chốt chính xác 100% với số lượng bãi kho khi Hải quan kiểm kê.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9728" cy="146304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834640"/>
            <a:ext cx="10728655" cy="365760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erfec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926080"/>
            <a:ext cx="10545775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1097280" cy="73152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8229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ACC15"/>
                </a:solidFill>
                <a:latin typeface="Segoe UI"/>
              </a:defRPr>
            </a:pPr>
            <a:r>
              <a:t>04 • PASAL 4(1)B.1 &amp; B.2</a:t>
            </a:r>
          </a:p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t>Liên kết Tờ khai Hải quan &amp; Tự động Khóa Push CEISA 4.0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371600"/>
          </a:xfrm>
          <a:prstGeom prst="rect">
            <a:avLst/>
          </a:prstGeom>
          <a:solidFill>
            <a:srgbClr val="18181B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228600"/>
          <a:lstStyle/>
          <a:p>
            <a:pPr algn="ctr">
              <a:spcAft>
                <a:spcPts val="400"/>
              </a:spcAft>
              <a:defRPr sz="1100" b="1">
                <a:solidFill>
                  <a:srgbClr val="EF4444"/>
                </a:solidFill>
                <a:latin typeface="Segoe UI"/>
              </a:defRPr>
            </a:pPr>
            <a:r>
              <a:t>🔒 QUY TRÌNH AN TOÀN DỮ LIỆU: TỰ ĐỘNG KHÓA PUSH CEISA 4.0 (NON-INSW)</a:t>
            </a:r>
          </a:p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Hệ thống tự động phân loại các tờ khai loại hình CEISA 4.0 (BC 2.7, BC 4.1, BC 2.6.1, BC 2.5), gắn nhãn 🔒 CEISA (Non-INSW) và TỰ ĐỘNG KHÓA nút Push INSW để loại bỏ 100% rủi ro nhân viên thao tác truyền nhầm.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9728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743200"/>
            <a:ext cx="10728655" cy="3749039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erfect_pemasuk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834640"/>
            <a:ext cx="10545775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1097280" cy="73152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8229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ACC15"/>
                </a:solidFill>
                <a:latin typeface="Segoe UI"/>
              </a:defRPr>
            </a:pPr>
            <a:r>
              <a:t>05 • PASAL 3(1), 4(1)A, D</a:t>
            </a:r>
          </a:p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t>Kết nối Dữ liệu Tự động &amp; Lưu Lịch sử &gt;2 Năm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4114800" cy="525780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spcAft>
                <a:spcPts val="1000"/>
              </a:spcAft>
              <a:defRPr sz="1150" b="1">
                <a:solidFill>
                  <a:srgbClr val="FACC15"/>
                </a:solidFill>
                <a:latin typeface="Segoe UI"/>
              </a:defRPr>
            </a:pPr>
            <a:r>
              <a:t>📊 TIÊU CHUẨN AUDIT LOG HẢI QUAN</a:t>
            </a:r>
            <a:br/>
            <a:r>
              <a:t>(PASAL 3 (1), PASAL 4 (1)a, d &amp; PASAL 5)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t>1. LƯU LỊCH SỬ &gt;2 NĂM</a:t>
            </a:r>
            <a:br/>
            <a:r>
              <a:t>Tra cứu tức thì trong 2 giây phục vụ Kiểm tra đột xuất của Hải quan (Pasal 5c).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t>2. KẾT NỐI TỰ ĐỘNG</a:t>
            </a:r>
            <a:br/>
            <a:r>
              <a:t>Tích hợp Cổng Kết nối truyền nhận dữ liệu trực tiếp với Cổng Hải quan.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t>3. NHẬT KÝ KHÔNG SỬA ĐỔI</a:t>
            </a:r>
            <a:br/>
            <a:r>
              <a:t>Lưu vết 100% lịch sử giao dịch (Ngày giờ, Tài khoản, Mã xác nhận Hải quan).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91440" cy="52578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0" y="1234440"/>
            <a:ext cx="6430975" cy="525780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erfect_insw_pu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325880"/>
            <a:ext cx="6248095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1097280" cy="73152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8229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ACC15"/>
                </a:solidFill>
                <a:latin typeface="Segoe UI"/>
              </a:defRPr>
            </a:pPr>
            <a:r>
              <a:t>06 • PASAL 7</a:t>
            </a:r>
          </a:p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t>Kịch bản Thẩm định Trực tiếp &amp; Kết luận Đạt Tiêu chuẩn Hải quan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5285232" cy="228600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spcAft>
                <a:spcPts val="800"/>
              </a:spcAft>
              <a:defRPr sz="1200" b="1">
                <a:solidFill>
                  <a:srgbClr val="FACC15"/>
                </a:solidFill>
                <a:latin typeface="Segoe UI"/>
              </a:defRPr>
            </a:pPr>
            <a:r>
              <a:t>🎯 KỊCH BẢN TRA CỨU TẠI CHỖ (2S)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Kính mời Cán bộ Hải quan / BGD chọn ngẫu nhiên 1 Mã hàng hoặc Tờ khai để gõ vào ô Tìm kiếm đối soát ngay.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91440" cy="22860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72200" y="1325880"/>
            <a:ext cx="5285232" cy="228600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spcAft>
                <a:spcPts val="800"/>
              </a:spcAft>
              <a:defRPr sz="1200" b="1">
                <a:solidFill>
                  <a:srgbClr val="FACC15"/>
                </a:solidFill>
                <a:latin typeface="Segoe UI"/>
              </a:defRPr>
            </a:pPr>
            <a:r>
              <a:t>📊 ĐỐI SOÁT SỔ KẾ TOÁN VS BÃI KHO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Số liệu thống nhất 100% giữa Sổ sách Kế toán Nhà máy (AXDB), Phần mềm IT Inventory và bãi kho thực tế.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325880"/>
            <a:ext cx="91440" cy="22860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840480"/>
            <a:ext cx="5285232" cy="228600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spcAft>
                <a:spcPts val="800"/>
              </a:spcAft>
              <a:defRPr sz="1200" b="1">
                <a:solidFill>
                  <a:srgbClr val="FACC15"/>
                </a:solidFill>
                <a:latin typeface="Segoe UI"/>
              </a:defRPr>
            </a:pPr>
            <a:r>
              <a:t>📜 THỎA MÃN NGHỊ ĐỊNH PER-24/BC/2023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Đáp ứng trọn vẹn 5 Tiêu chuẩn Kriteria Pendayagunaan IT Inventory theo quy định của Cục Hải quan.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840480"/>
            <a:ext cx="91440" cy="22860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3840480"/>
            <a:ext cx="5285232" cy="228600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spcAft>
                <a:spcPts val="800"/>
              </a:spcAft>
              <a:defRPr sz="1200" b="1">
                <a:solidFill>
                  <a:srgbClr val="34D399"/>
                </a:solidFill>
                <a:latin typeface="Segoe UI"/>
              </a:defRPr>
            </a:pPr>
            <a:r>
              <a:t>🏆 KẾT LUẬN ĐỦ ĐIỀU KIỆN CAP QUYẾT ĐỊNH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Đủ điều kiện nhận Quyết định Penetapan IT Inventory từ Cục Trưởng Cục Hải quan!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3840480"/>
            <a:ext cx="91440" cy="2286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