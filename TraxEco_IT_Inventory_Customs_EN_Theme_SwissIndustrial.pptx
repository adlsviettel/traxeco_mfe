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3291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INDONESIAN CUSTOMS REGULATION PER-24/BC/2023</a:t>
            </a:r>
          </a:p>
          <a:p>
            <a:pPr>
              <a:spcAft>
                <a:spcPts val="1000"/>
              </a:spcAft>
              <a:defRPr sz="2400" b="1">
                <a:solidFill>
                  <a:srgbClr val="18181B"/>
                </a:solidFill>
                <a:latin typeface="Segoe UI"/>
              </a:defRPr>
            </a:pPr>
            <a:r>
              <a:t>IT INVENTORY SYSTEM CUSTOMS AUDIT COMPLIANCE REPORT</a:t>
            </a:r>
          </a:p>
          <a:p>
            <a:pPr>
              <a:spcAft>
                <a:spcPts val="1600"/>
              </a:spcAft>
              <a:defRPr sz="1300">
                <a:solidFill>
                  <a:srgbClr val="71717A"/>
                </a:solidFill>
                <a:latin typeface="Segoe UI"/>
              </a:defRPr>
            </a:pPr>
            <a:r>
              <a:t>Verbatim Legal Mandates &amp; Technical Implementation at TSI / TraxEco Factory</a:t>
            </a:r>
          </a:p>
          <a:p>
            <a:pPr>
              <a:defRPr sz="1200" b="1">
                <a:solidFill>
                  <a:srgbClr val="B45309"/>
                </a:solidFill>
                <a:latin typeface="Segoe UI"/>
              </a:defRPr>
            </a:pPr>
            <a:r>
              <a:t>Warehouse Management &amp; Plant Accounting Department | TSI / TraxEco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3413455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64E3B"/>
                </a:solidFill>
                <a:latin typeface="Segoe UI"/>
              </a:defRPr>
            </a:pPr>
            <a:r>
              <a:t>100% ACCOUNTING BOOKS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Integrated directly with Plant Accounting AXDB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91440" cy="20116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4297680"/>
            <a:ext cx="3413455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64E3B"/>
                </a:solidFill>
                <a:latin typeface="Segoe UI"/>
              </a:defRPr>
            </a:pPr>
            <a:r>
              <a:t>5:00 AM SHIFT CUTOFF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Aligns night shift production 100% with stock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97680"/>
            <a:ext cx="91440" cy="201168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4297680"/>
            <a:ext cx="3413455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B45309"/>
                </a:solidFill>
                <a:latin typeface="Segoe UI"/>
              </a:defRPr>
            </a:pPr>
            <a:r>
              <a:t>CEISA 4.0 PUSH LOCK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Eliminates INSW transmission errors completely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297680"/>
            <a:ext cx="91440" cy="2011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01 • PASAL 2(2) &amp; 4(1)E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Accounting System Integration &amp; Material Lifecycle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4990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01. PURCHASE</a:t>
            </a:r>
          </a:p>
          <a:p>
            <a:pPr>
              <a:defRPr sz="950">
                <a:solidFill>
                  <a:srgbClr val="71717A"/>
                </a:solidFill>
                <a:latin typeface="Segoe UI"/>
              </a:defRPr>
            </a:pPr>
            <a:r>
              <a:t>Material Receiving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49905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234440"/>
            <a:ext cx="24990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02. WIP LINE</a:t>
            </a:r>
          </a:p>
          <a:p>
            <a:pPr>
              <a:defRPr sz="950">
                <a:solidFill>
                  <a:srgbClr val="71717A"/>
                </a:solidFill>
                <a:latin typeface="Segoe UI"/>
              </a:defRPr>
            </a:pPr>
            <a:r>
              <a:t>Production Issuance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34440"/>
            <a:ext cx="249905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24990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03. FINISHED GOODS</a:t>
            </a:r>
          </a:p>
          <a:p>
            <a:pPr>
              <a:defRPr sz="950">
                <a:solidFill>
                  <a:srgbClr val="71717A"/>
                </a:solidFill>
                <a:latin typeface="Segoe UI"/>
              </a:defRPr>
            </a:pPr>
            <a:r>
              <a:t>FG Receiving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249905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1234440"/>
            <a:ext cx="24990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04. SCRAP &amp; OPNAME</a:t>
            </a:r>
          </a:p>
          <a:p>
            <a:pPr>
              <a:defRPr sz="950">
                <a:solidFill>
                  <a:srgbClr val="71717A"/>
                </a:solidFill>
                <a:latin typeface="Segoe UI"/>
              </a:defRPr>
            </a:pPr>
            <a:r>
              <a:t>Scrap &amp; Stock Opname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234440"/>
            <a:ext cx="2499055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728655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10545775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02 • PASAL 4(1)B.3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Kode Barang, HS Code &amp; Origin Standardization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29184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📜 CUSTOMS MANDATE</a:t>
            </a:r>
            <a:br/>
            <a:r>
              <a:t>(PASAL 4 (1)b.3)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• Item Code (Kode Barang) MUST be used CONSISTENTLY between Declarations &amp; IT Inventory.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• Must clearly distinguish Import Goods (Impor) vs Local Goods (TLDDP).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• Must distinguish Manufacturing Processing vs Logistics.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1234440"/>
            <a:ext cx="329184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✅ IT INVENTORY SOLUTION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✔ Master Data Item Catalog 100% consistent with Customs Declarations.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✔ Automated mapping of Customs HS Codes &amp; Standard UOMs (PCS, YRD, KGM...).</a:t>
            </a:r>
          </a:p>
          <a:p>
            <a:pPr>
              <a:spcAft>
                <a:spcPts val="600"/>
              </a:spcAft>
              <a:defRPr sz="1050">
                <a:solidFill>
                  <a:srgbClr val="18181B"/>
                </a:solidFill>
                <a:latin typeface="Segoe UI"/>
              </a:defRPr>
            </a:pPr>
            <a:r>
              <a:t>✔ Explicit origin tagging (Import vs Local) on all transaction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34440"/>
            <a:ext cx="91440" cy="52578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234440"/>
            <a:ext cx="3779215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25880"/>
            <a:ext cx="359633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03 • PASAL 4(1)C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Recording 7 Inventory Categories &amp; 5:00 AM Shift Cutoff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📌 5:00 AM SHIFT CUTOFF RATIONALE FORMULA</a:t>
            </a:r>
          </a:p>
          <a:p>
            <a:pPr>
              <a:spcAft>
                <a:spcPts val="400"/>
              </a:spcAft>
              <a:defRPr sz="1050" b="1">
                <a:solidFill>
                  <a:srgbClr val="B45309"/>
                </a:solidFill>
                <a:latin typeface="Segoe UI"/>
              </a:defRPr>
            </a:pPr>
            <a:r>
              <a:t>AXDB Cutoff Formula: DATEADD(hour, -5, t.MODIFIEDDATETIME)  |  Time Window: 05:00 AM Target Date ➔ 05:00 AM Next Day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Guarantees 100% alignment between software inventory records and physical warehouse stock during customs audits.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4630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105457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04 • PASAL 4(1)B.1 &amp; B.2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Customs Declaration Linkage &amp; CEISA 4.0 Push 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🔒 DATA INTEGRITY CONTROL: AUTOMATIC CEISA 4.0 (NON-INSW) PUSH LOCK</a:t>
            </a:r>
          </a:p>
          <a:p>
            <a:pPr>
              <a:defRPr sz="1000">
                <a:solidFill>
                  <a:srgbClr val="18181B"/>
                </a:solidFill>
                <a:latin typeface="Segoe UI"/>
              </a:defRPr>
            </a:pPr>
            <a:r>
              <a:t>System automatically tags CEISA 4.0 declarations (BC 2.7, BC 4.1, BC 2.6.1, BC 2.5) with 🔒 CEISA (Non-INSW) and AUTOMATICALLY LOCKS the INSW Push action to eliminate human error.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728655" cy="3749039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105457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05 • PASAL 3(1), 4(1)A, D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Automated Data Connection &amp; &gt;2 Years Audit Traceability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11480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150" b="1">
                <a:solidFill>
                  <a:srgbClr val="064E3B"/>
                </a:solidFill>
                <a:latin typeface="Segoe UI"/>
              </a:defRPr>
            </a:pPr>
            <a:r>
              <a:t>📊 CUSTOMS AUDIT TRAIL STANDARD</a:t>
            </a:r>
            <a:br/>
            <a:r>
              <a:t>(PASAL 3 (1), PASAL 4 (1)a, d &amp; PASAL 5)</a:t>
            </a:r>
          </a:p>
          <a:p>
            <a:pPr>
              <a:spcAft>
                <a:spcPts val="1000"/>
              </a:spcAft>
              <a:defRPr sz="1000">
                <a:solidFill>
                  <a:srgbClr val="18181B"/>
                </a:solidFill>
                <a:latin typeface="Segoe UI"/>
              </a:defRPr>
            </a:pPr>
            <a:r>
              <a:t>1. &gt;2 YEARS HISTORY</a:t>
            </a:r>
            <a:br/>
            <a:r>
              <a:t>Sub-2-second data retrieval serving unannounced Customs Spot Audits.</a:t>
            </a:r>
          </a:p>
          <a:p>
            <a:pPr>
              <a:spcAft>
                <a:spcPts val="1000"/>
              </a:spcAft>
              <a:defRPr sz="1000">
                <a:solidFill>
                  <a:srgbClr val="18181B"/>
                </a:solidFill>
                <a:latin typeface="Segoe UI"/>
              </a:defRPr>
            </a:pPr>
            <a:r>
              <a:t>2. AUTOMATED DATA GATEWAY</a:t>
            </a:r>
            <a:br/>
            <a:r>
              <a:t>Integrated Automated Transmission Gateway directly with Customs Portal.</a:t>
            </a:r>
          </a:p>
          <a:p>
            <a:pPr>
              <a:spcAft>
                <a:spcPts val="1000"/>
              </a:spcAft>
              <a:defRPr sz="1000">
                <a:solidFill>
                  <a:srgbClr val="18181B"/>
                </a:solidFill>
                <a:latin typeface="Segoe UI"/>
              </a:defRPr>
            </a:pPr>
            <a:r>
              <a:t>3. IMMUTABLE LOGGING</a:t>
            </a:r>
            <a:br/>
            <a:r>
              <a:t>100% transaction logging (Timestamps, User Accounts, Gateway Confirmation).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234440"/>
            <a:ext cx="6430975" cy="52578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2480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4E3B"/>
                </a:solidFill>
                <a:latin typeface="Segoe UI"/>
              </a:defRPr>
            </a:pPr>
            <a:r>
              <a:t>06 • PASAL 7</a:t>
            </a:r>
          </a:p>
          <a:p>
            <a:pPr>
              <a:defRPr sz="1900" b="1">
                <a:solidFill>
                  <a:srgbClr val="18181B"/>
                </a:solidFill>
                <a:latin typeface="Segoe UI"/>
              </a:defRPr>
            </a:pPr>
            <a:r>
              <a:t>Live Verification Script &amp; Compliance Approval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28523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🎯 LIVE SEARCH DEMO (2 SECONDS)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Invite Customs Officers to pick any random Item Code or Declaration No. to search and verify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2286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1325880"/>
            <a:ext cx="528523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📊 ACCOUNTING BOOKS VS STOCK ALIGNMENT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100% data consistency across Plant Accounting Books, IT Inventory Software &amp; Physical Stock.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91440" cy="2286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8523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64E3B"/>
                </a:solidFill>
                <a:latin typeface="Segoe UI"/>
              </a:defRPr>
            </a:pPr>
            <a:r>
              <a:t>📜 PER-24/BC/2023 FULL SATISFACTION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Meets 100% of all 5 mandatory IT Inventory Utilization Criteria required by Customs.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91440" cy="2286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5285232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B45309"/>
                </a:solidFill>
                <a:latin typeface="Segoe UI"/>
              </a:defRPr>
            </a:pPr>
            <a:r>
              <a:t>🏆 QUALIFIED FOR CUSTOMS PENETAPAN</a:t>
            </a:r>
          </a:p>
          <a:p>
            <a:pPr>
              <a:defRPr sz="1100">
                <a:solidFill>
                  <a:srgbClr val="18181B"/>
                </a:solidFill>
                <a:latin typeface="Segoe UI"/>
              </a:defRPr>
            </a:pPr>
            <a:r>
              <a:t>Fully qualified to receive the official Penetapan IT Inventory Approval Decision from Customs!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40480"/>
            <a:ext cx="91440" cy="2286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