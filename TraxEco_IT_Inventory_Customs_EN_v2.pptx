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728655" cy="27432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REPUBLIC OF INDONESIA • CUSTOMS REGULATION PER-24/BC/2023</a:t>
            </a:r>
          </a:p>
          <a:p>
            <a:pPr>
              <a:spcAft>
                <a:spcPts val="1200"/>
              </a:spcAft>
              <a:defRPr sz="2400" b="1">
                <a:solidFill>
                  <a:srgbClr val="1E293B"/>
                </a:solidFill>
                <a:latin typeface="Segoe UI"/>
              </a:defRPr>
            </a:pPr>
            <a:r>
              <a:t>IT INVENTORY SYSTEM CUSTOMS AUDIT COMPLIANCE REPORT</a:t>
            </a:r>
          </a:p>
          <a:p>
            <a:pPr>
              <a:spcAft>
                <a:spcPts val="240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Verbatim Legal Mandates &amp; Technical Implementation Report for Customs Audit</a:t>
            </a:r>
          </a:p>
          <a:p>
            <a:pPr>
              <a:defRPr sz="1200" b="1">
                <a:solidFill>
                  <a:srgbClr val="1E3A8A"/>
                </a:solidFill>
                <a:latin typeface="Segoe UI"/>
              </a:defRPr>
            </a:pPr>
            <a:r>
              <a:t>Warehouse Management &amp; Plant Accounting Department | TSI / TraxEco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411480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3413455" cy="1828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100% ACCOUNTING BOOKS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Integrated directly with Plant Accounting AXDB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4389120"/>
            <a:ext cx="3413455" cy="1828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5:00 AM SHIFT CUTOFF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Aligns night shift production 100% with stock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4389120"/>
            <a:ext cx="3413455" cy="18288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Segoe UI"/>
              </a:defRPr>
            </a:pPr>
            <a:r>
              <a:t>CEISA 4.0 PUSH LOCK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Eliminates INSW transmission errors completely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Segoe UI"/>
              </a:defRPr>
            </a:pPr>
            <a:r>
              <a:t>PHẦN 00 • EXECUTIVE 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900" b="1">
                <a:solidFill>
                  <a:srgbClr val="1E293B"/>
                </a:solidFill>
                <a:latin typeface="Segoe UI"/>
              </a:defRPr>
            </a:pPr>
            <a:r>
              <a:t>EXECUTIVE AUDIT AGENDA &amp; REPORT 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120640" cy="1463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1E3A8A"/>
                </a:solidFill>
                <a:latin typeface="Segoe UI"/>
              </a:defRPr>
            </a:pPr>
            <a:r>
              <a:t>01. ERP ACCOUNTING SYSTEM SUBSYSTEM INTEGRATION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Pasal 2(2) &amp; 4(1)e: AXDB Accounting Sync &amp; Material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417320"/>
            <a:ext cx="5120640" cy="1463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1E3A8A"/>
                </a:solidFill>
                <a:latin typeface="Segoe UI"/>
              </a:defRPr>
            </a:pPr>
            <a:r>
              <a:t>02. KODE BARANG, HS CODE &amp; ORIGIN STANDARDIZATION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Pasal 4(1)b.3: Consistent Item Codes, HS Codes &amp; Impor vs TLDDP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5120640" cy="1463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1E3A8A"/>
                </a:solidFill>
                <a:latin typeface="Segoe UI"/>
              </a:defRPr>
            </a:pPr>
            <a:r>
              <a:t>03. RECORDING 7 INVENTORY CATEGORIES &amp; 5:00 AM CUTOFF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Pasal 4(1)c: 7 Mandatory Categories &amp; 5:00 AM Shift Cutoff Rationale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3063240"/>
            <a:ext cx="5120640" cy="1463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1E3A8A"/>
                </a:solidFill>
                <a:latin typeface="Segoe UI"/>
              </a:defRPr>
            </a:pPr>
            <a:r>
              <a:t>04. CUSTOMS DECLARATION LINKAGE &amp; CEISA PUSH LOCK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Pasal 4(1)b.1 &amp; b.2: Auto PDF Storage &amp; Automatic INSW Push 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5120640" cy="1463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1E3A8A"/>
                </a:solidFill>
                <a:latin typeface="Segoe UI"/>
              </a:defRPr>
            </a:pPr>
            <a:r>
              <a:t>05. AUTOMATED DATA CONNECTION &amp; &gt;2 YEARS TRACEABILITY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Pasal 3(1), 4(1)a,d &amp; 5: Automated Transmission &amp; &gt;2 Years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4709160"/>
            <a:ext cx="5120640" cy="1463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1E3A8A"/>
                </a:solidFill>
                <a:latin typeface="Segoe UI"/>
              </a:defRPr>
            </a:pPr>
            <a:r>
              <a:t>06. LIVE VERIFICATION SCRIPT &amp; COMPLIANCE CONCLUSION</a:t>
            </a:r>
          </a:p>
          <a:p>
            <a:pPr>
              <a:defRPr sz="1050">
                <a:solidFill>
                  <a:srgbClr val="1E293B"/>
                </a:solidFill>
                <a:latin typeface="Segoe UI"/>
              </a:defRPr>
            </a:pPr>
            <a:r>
              <a:t>Pasal 7: Live 2s Search Demo, 100% Stock Alignment &amp; Approval Decision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Segoe UI"/>
              </a:defRPr>
            </a:pPr>
            <a:r>
              <a:t>PHẦN 01 • PASAL 2(2) &amp; PASAL 4(1)E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900" b="1">
                <a:solidFill>
                  <a:srgbClr val="1E293B"/>
                </a:solidFill>
                <a:latin typeface="Segoe UI"/>
              </a:defRPr>
            </a:pPr>
            <a:r>
              <a:t>Tích hợp Hệ thống Thông tin Kế toán &amp; Vòng đời Vật tư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937760" cy="50292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91C1C"/>
                </a:solidFill>
                <a:latin typeface="Segoe UI"/>
              </a:defRPr>
            </a:pPr>
            <a:r>
              <a:t>QUY ĐỊNH HẢI QUAN (PER-24/BC/2023)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Bắt buộc là Phân hệ thuộc Hệ thống Kế toán ERP nhà máy.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Phục vụ lập Báo cáo Tài chính &amp; Hải quan kiểm tra.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600"/>
              </a:spcAft>
              <a:defRPr sz="1200" b="1">
                <a:solidFill>
                  <a:srgbClr val="15803D"/>
                </a:solidFill>
                <a:latin typeface="Segoe UI"/>
              </a:defRPr>
            </a:pPr>
            <a:r>
              <a:t>HỆ THỐNG IT INVENTORY ĐÁP ỨNG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Tích hợp trực tiếp CSDL Sổ Kế toán AXDB ERP.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Tự động hóa khép kín: Mua ➔ WIP ➔ FG ➔ Báo phế ➔ Opname.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Đồng bộ 100% số liệu, loại bỏ file Excel thủ công.</a:t>
            </a:r>
          </a:p>
        </p:txBody>
      </p:sp>
      <p:pic>
        <p:nvPicPr>
          <p:cNvPr id="6" name="Picture 5" descr="perfe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5790895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52160" y="1371600"/>
            <a:ext cx="5790895" cy="4846320"/>
          </a:xfrm>
          <a:prstGeom prst="rect">
            <a:avLst/>
          </a:prstGeom>
          <a:noFill/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Segoe UI"/>
              </a:defRPr>
            </a:pPr>
            <a:r>
              <a:t>PHẦN 02 • PASAL 4(1)B.3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900" b="1">
                <a:solidFill>
                  <a:srgbClr val="1E293B"/>
                </a:solidFill>
                <a:latin typeface="Segoe UI"/>
              </a:defRPr>
            </a:pPr>
            <a:r>
              <a:t>Chuẩn hóa Mã hàng, HS Code &amp; Nguồn gốc Hàng hóa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937760" cy="50292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91C1C"/>
                </a:solidFill>
                <a:latin typeface="Segoe UI"/>
              </a:defRPr>
            </a:pPr>
            <a:r>
              <a:t>QUY ĐỊNH HẢI QUAN (PER-24/BC/2023)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Kode Barang dùng NHẤT QUÁN với Tờ khai Hải quan.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Phân biệt rõ Hàng Nhập khẩu vs Hàng Nội địa (TLDDP).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Phân biệt Hàng Chế biến (Pengolahan) vs Kho vận (Logistik).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600"/>
              </a:spcAft>
              <a:defRPr sz="1200" b="1">
                <a:solidFill>
                  <a:srgbClr val="15803D"/>
                </a:solidFill>
                <a:latin typeface="Segoe UI"/>
              </a:defRPr>
            </a:pPr>
            <a:r>
              <a:t>HỆ THỐNG IT INVENTORY ĐÁP ỨNG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Trùng khớp 100% Kode Barang với Tờ khai Hải quan.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Chuẩn hóa Mã HS Code &amp; Đơn vị tính (PCS, YRD, KGM...).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Gán nhãn rõ Nguồn gốc Nhập khẩu vs Nội địa trên chứng từ.</a:t>
            </a:r>
          </a:p>
        </p:txBody>
      </p:sp>
      <p:pic>
        <p:nvPicPr>
          <p:cNvPr id="6" name="Picture 5" descr="perfect_master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5790895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52160" y="1371600"/>
            <a:ext cx="5790895" cy="4846320"/>
          </a:xfrm>
          <a:prstGeom prst="rect">
            <a:avLst/>
          </a:prstGeom>
          <a:noFill/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Segoe UI"/>
              </a:defRPr>
            </a:pPr>
            <a:r>
              <a:t>PHẦN 03 • PASAL 4(1)C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900" b="1">
                <a:solidFill>
                  <a:srgbClr val="1E293B"/>
                </a:solidFill>
                <a:latin typeface="Segoe UI"/>
              </a:defRPr>
            </a:pPr>
            <a:r>
              <a:t>Ghi nhận 7 Loại Giao dịch Kho &amp; Chốt sổ Ca đêm 5:00 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937760" cy="50292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91C1C"/>
                </a:solidFill>
                <a:latin typeface="Segoe UI"/>
              </a:defRPr>
            </a:pPr>
            <a:r>
              <a:t>QUY ĐỊNH HẢI QUAN (PER-24/BC/2023)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Ghi nhận đủ 7 Danh mục: NVL, WIP, FG, Scrap, Opname...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Số liệu kế toán ghi nhận khớp 100% bãi kho thực tế.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600"/>
              </a:spcAft>
              <a:defRPr sz="1200" b="1">
                <a:solidFill>
                  <a:srgbClr val="15803D"/>
                </a:solidFill>
                <a:latin typeface="Segoe UI"/>
              </a:defRPr>
            </a:pPr>
            <a:r>
              <a:t>HỆ THỐNG IT INVENTORY ĐÁP ỨNG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Quản lý đủ 7 danh mục giao dịch kho theo quy định.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Quy trình Cutoff 5:00 AM theo ca sản xuất thực tế.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Sản lượng ca đêm khớp 100% khi Hải quan kiểm kê.</a:t>
            </a:r>
          </a:p>
        </p:txBody>
      </p:sp>
      <p:pic>
        <p:nvPicPr>
          <p:cNvPr id="6" name="Picture 5" descr="perfe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5790895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52160" y="1371600"/>
            <a:ext cx="5790895" cy="4846320"/>
          </a:xfrm>
          <a:prstGeom prst="rect">
            <a:avLst/>
          </a:prstGeom>
          <a:noFill/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Segoe UI"/>
              </a:defRPr>
            </a:pPr>
            <a:r>
              <a:t>PHẦN 04 • PASAL 4(1)B.1 &amp; B.2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900" b="1">
                <a:solidFill>
                  <a:srgbClr val="1E293B"/>
                </a:solidFill>
                <a:latin typeface="Segoe UI"/>
              </a:defRPr>
            </a:pPr>
            <a:r>
              <a:t>Liên kết Tờ khai Hải quan &amp; Tự động Khóa Push CEISA 4.0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937760" cy="50292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91C1C"/>
                </a:solidFill>
                <a:latin typeface="Segoe UI"/>
              </a:defRPr>
            </a:pPr>
            <a:r>
              <a:t>QUY ĐỊNH HẢI QUAN (PER-24/BC/2023)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Liên kết Tờ khai Hải quan &amp; Phiếu xuất/chuyển kho.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Nghiêm cấm đẩy nhầm chứng từ CEISA 4.0 lên Cổng INSW.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600"/>
              </a:spcAft>
              <a:defRPr sz="1200" b="1">
                <a:solidFill>
                  <a:srgbClr val="15803D"/>
                </a:solidFill>
                <a:latin typeface="Segoe UI"/>
              </a:defRPr>
            </a:pPr>
            <a:r>
              <a:t>HỆ THỐNG IT INVENTORY ĐÁP ỨNG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Tự động lưu Số/Ngày Tờ khai &amp; File PDF chứng từ gốc.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Gắn nhãn 🔒 CEISA (Non-INSW) &amp; TỰ ĐỘNG KHÓA nút Push INSW.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Lưu trữ trọn vẹn kho hồ sơ IT Inventory phục vụ tra cứu.</a:t>
            </a:r>
          </a:p>
        </p:txBody>
      </p:sp>
      <p:pic>
        <p:nvPicPr>
          <p:cNvPr id="6" name="Picture 5" descr="perfect_pemasuk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5790895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52160" y="1371600"/>
            <a:ext cx="5790895" cy="4846320"/>
          </a:xfrm>
          <a:prstGeom prst="rect">
            <a:avLst/>
          </a:prstGeom>
          <a:noFill/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Segoe UI"/>
              </a:defRPr>
            </a:pPr>
            <a:r>
              <a:t>PHẦN 05 • PASAL 3(1) &amp; PASAL 4(1)A,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900" b="1">
                <a:solidFill>
                  <a:srgbClr val="1E293B"/>
                </a:solidFill>
                <a:latin typeface="Segoe UI"/>
              </a:defRPr>
            </a:pPr>
            <a:r>
              <a:t>Kết nối Dữ liệu Tự động &amp; Lưu Lịch sử &gt;2 Năm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937760" cy="50292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91C1C"/>
                </a:solidFill>
                <a:latin typeface="Segoe UI"/>
              </a:defRPr>
            </a:pPr>
            <a:r>
              <a:t>QUY ĐỊNH HẢI QUAN (PER-24/BC/2023)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Lưu trữ lịch sử giao dịch tối thiểu 2 năm trở về trước.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• Kết nối truyền nhận dữ liệu tự động với Cổng Hải quan.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600"/>
              </a:spcAft>
              <a:defRPr sz="1200" b="1">
                <a:solidFill>
                  <a:srgbClr val="15803D"/>
                </a:solidFill>
                <a:latin typeface="Segoe UI"/>
              </a:defRPr>
            </a:pPr>
            <a:r>
              <a:t>HỆ THỐNG IT INVENTORY ĐÁP ỨNG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Lưu trữ lịch sử &gt;2 năm, tra cứu tức thì trong 2 giây.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Kết nối tự động truyền nhận dữ liệu với Cổng Hải quan.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Segoe UI"/>
              </a:defRPr>
            </a:pPr>
            <a:r>
              <a:t>✔ Nhật ký Audit Log 100% không thể sửa đổi.</a:t>
            </a:r>
          </a:p>
        </p:txBody>
      </p:sp>
      <p:pic>
        <p:nvPicPr>
          <p:cNvPr id="6" name="Picture 5" descr="perfect_insw_p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371600"/>
            <a:ext cx="5790895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52160" y="1371600"/>
            <a:ext cx="5790895" cy="4846320"/>
          </a:xfrm>
          <a:prstGeom prst="rect">
            <a:avLst/>
          </a:prstGeom>
          <a:noFill/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000" b="1">
                <a:solidFill>
                  <a:srgbClr val="1E3A8A"/>
                </a:solidFill>
                <a:latin typeface="Segoe UI"/>
              </a:defRPr>
            </a:pPr>
            <a:r>
              <a:t>PHẦN 06 • PASAL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900" b="1">
                <a:solidFill>
                  <a:srgbClr val="1E293B"/>
                </a:solidFill>
                <a:latin typeface="Segoe UI"/>
              </a:defRPr>
            </a:pPr>
            <a:r>
              <a:t>Kịch bản Thẩm định Trực tiếp &amp; Kết luận Đạt Tiêu chuẩn Hải quan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120640" cy="20116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Segoe UI"/>
              </a:defRPr>
            </a:pPr>
            <a:r>
              <a:t>🎯 KỊCH BẢN TRA CỨU TẠI CHỖ (2S)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Kính mời Cán bộ Hải quan / BGD chọn ngẫu nhiên 1 Mã hàng hoặc Tờ khai để gõ vào ô Tìm kiếm đối soát ngay.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463040"/>
            <a:ext cx="5120640" cy="20116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Segoe UI"/>
              </a:defRPr>
            </a:pPr>
            <a:r>
              <a:t>📊 ĐỐI SOÁT SỔ KẾ TOÁN VS BÃI KHO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Số liệu thống nhất 100% giữa Sổ sách Kế toán Nhà máy (AXDB), Phần mềm IT Inventory và bãi kho thực tế.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5120640" cy="20116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Segoe UI"/>
              </a:defRPr>
            </a:pPr>
            <a:r>
              <a:t>📜 THỎA MÃN NGHỊ ĐỊNH PER-24/BC/2023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Đáp ứng trọn vẹn 5 Tiêu chuẩn Kriteria Pendayagunaan IT Inventory theo quy định của Cục Hải quan.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3840480"/>
            <a:ext cx="5120640" cy="201168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E3A8A"/>
                </a:solidFill>
                <a:latin typeface="Segoe UI"/>
              </a:defRPr>
            </a:pPr>
            <a:r>
              <a:t>🏆 KẾT LUẬN ĐỦ ĐIỀU KIỆN CAP QUYẾT ĐỊNH</a:t>
            </a:r>
          </a:p>
          <a:p>
            <a:pPr>
              <a:defRPr sz="1100">
                <a:solidFill>
                  <a:srgbClr val="1E293B"/>
                </a:solidFill>
                <a:latin typeface="Segoe UI"/>
              </a:defRPr>
            </a:pPr>
            <a:r>
              <a:t>Đủ điều kiện nhận Quyết định Penetapan IT Inventory từ Cục Trưởng Cục Hải quan!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