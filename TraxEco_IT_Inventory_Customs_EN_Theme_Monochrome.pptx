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3291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" cy="32918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971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INDONESIAN CUSTOMS REGULATION PER-24/BC/2023</a:t>
            </a:r>
          </a:p>
          <a:p>
            <a:pPr>
              <a:spcAft>
                <a:spcPts val="10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IT INVENTORY SYSTEM CUSTOMS AUDIT COMPLIANCE REPORT</a:t>
            </a:r>
          </a:p>
          <a:p>
            <a:pPr>
              <a:spcAft>
                <a:spcPts val="1600"/>
              </a:spcAft>
              <a:defRPr sz="1300">
                <a:solidFill>
                  <a:srgbClr val="A1A1AA"/>
                </a:solidFill>
                <a:latin typeface="Segoe UI"/>
              </a:defRPr>
            </a:pPr>
            <a:r>
              <a:t>Verbatim Legal Mandates &amp; Technical Implementation at TSI / TraxEco Factory</a:t>
            </a:r>
          </a:p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Warehouse Management &amp; Plant Accounting Department | TSI / TraxEco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FACC15"/>
                </a:solidFill>
                <a:latin typeface="Segoe UI"/>
              </a:defRPr>
            </a:pPr>
            <a:r>
              <a:t>100% ACCOUNTING BOOKS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Integrated directly with Plant Accounting AXDB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91440" cy="20116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FACC15"/>
                </a:solidFill>
                <a:latin typeface="Segoe UI"/>
              </a:defRPr>
            </a:pPr>
            <a:r>
              <a:t>5:00 AM SHIFT CUTOFF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Aligns night shift production 100% with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297680"/>
            <a:ext cx="91440" cy="20116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34D399"/>
                </a:solidFill>
                <a:latin typeface="Segoe UI"/>
              </a:defRPr>
            </a:pPr>
            <a:r>
              <a:t>CEISA 4.0 PUSH LOCK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Eliminates INSW transmission errors completely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4297680"/>
            <a:ext cx="91440" cy="2011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01 • PASAL 2(2) &amp; 4(1)E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Accounting System Integration &amp; Material Lifecycle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01. PURCHASE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Material Receiving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02. WIP LINE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Production Issuance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03. FINISHED GOODS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FG Receiving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0" y="1234440"/>
            <a:ext cx="2499055" cy="10058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spcAft>
                <a:spcPts val="2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04. SCRAP &amp; OPNAME</a:t>
            </a:r>
          </a:p>
          <a:p>
            <a:pPr>
              <a:defRPr sz="950">
                <a:solidFill>
                  <a:srgbClr val="A1A1AA"/>
                </a:solidFill>
                <a:latin typeface="Segoe UI"/>
              </a:defRPr>
            </a:pPr>
            <a:r>
              <a:t>Scrap &amp; Stock Opname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34440"/>
            <a:ext cx="2499055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728655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10545775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02 • PASAL 4(1)B.3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Kode Barang, HS Code &amp; Origin Standardization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291840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📜 CUSTOMS MANDATE</a:t>
            </a:r>
            <a:br/>
            <a:r>
              <a:t>(PASAL 4 (1)b.3)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Item Code (Kode Barang) MUST be used CONSISTENTLY between Declarations &amp; IT Inventory.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Must clearly distinguish Import Goods (Impor) vs Local Goods (TLDDP).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• Must distinguish Manufacturing Processing vs Logistics.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0" y="1234440"/>
            <a:ext cx="3291840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✅ IT INVENTORY SOLUTION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Master Data Item Catalog 100% consistent with Customs Declarations.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Automated mapping of Customs HS Codes &amp; Standard UOMs (PCS, YRD, KGM...).</a:t>
            </a:r>
          </a:p>
          <a:p>
            <a:pPr>
              <a:spcAft>
                <a:spcPts val="600"/>
              </a:spcAft>
              <a:defRPr sz="1050">
                <a:solidFill>
                  <a:srgbClr val="FFFFFF"/>
                </a:solidFill>
                <a:latin typeface="Segoe UI"/>
              </a:defRPr>
            </a:pPr>
            <a:r>
              <a:t>✔ Explicit origin tagging (Import vs Local) on all transaction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34440"/>
            <a:ext cx="91440" cy="5257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234440"/>
            <a:ext cx="3779215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25880"/>
            <a:ext cx="359633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03 • PASAL 4(1)C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Recording 7 Inventory Categories &amp; 5:00 AM Shift Cutoff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46304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FACC15"/>
                </a:solidFill>
                <a:latin typeface="Segoe UI"/>
              </a:defRPr>
            </a:pPr>
            <a:r>
              <a:t>📌 5:00 AM SHIFT CUTOFF RATIONALE FORMULA</a:t>
            </a:r>
          </a:p>
          <a:p>
            <a:pPr>
              <a:spcAft>
                <a:spcPts val="400"/>
              </a:spcAft>
              <a:defRPr sz="1050" b="1">
                <a:solidFill>
                  <a:srgbClr val="34D399"/>
                </a:solidFill>
                <a:latin typeface="Segoe UI"/>
              </a:defRPr>
            </a:pPr>
            <a:r>
              <a:t>AXDB Cutoff Formula: DATEADD(hour, -5, t.MODIFIEDDATETIME)  |  Time Window: 05:00 AM Target Date ➔ 05:00 AM Next Day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Guarantees 100% alignment between software inventory records and physical warehouse stock during customs audits.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4630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0728655" cy="36576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1054577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04 • PASAL 4(1)B.1 &amp; B.2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Customs Declaration Linkage &amp; CEISA 4.0 Push 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00"/>
          </a:xfrm>
          <a:prstGeom prst="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28600"/>
          <a:lstStyle/>
          <a:p>
            <a:pPr algn="ctr">
              <a:spcAft>
                <a:spcPts val="4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🔒 DATA INTEGRITY CONTROL: AUTOMATIC CEISA 4.0 (NON-INSW) PUSH LOCK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System automatically tags CEISA 4.0 declarations (BC 2.7, BC 4.1, BC 2.6.1, BC 2.5) with 🔒 CEISA (Non-INSW) and AUTOMATICALLY LOCKS the INSW Push action to eliminate human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728655" cy="3749039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1054577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05 • PASAL 3(1), 4(1)A, D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Automated Data Connection &amp; &gt;2 Years Audit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FACC15"/>
                </a:solidFill>
                <a:latin typeface="Segoe UI"/>
              </a:defRPr>
            </a:pPr>
            <a:r>
              <a:t>📊 CUSTOMS AUDIT TRAIL STANDARD</a:t>
            </a:r>
            <a:br/>
            <a:r>
              <a:t>(PASAL 3 (1), PASAL 4 (1)a, d &amp; PASAL 5)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1. &gt;2 YEARS HISTORY</a:t>
            </a:r>
            <a:br/>
            <a:r>
              <a:t>Sub-2-second data retrieval serving unannounced Customs Spot Audits.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2. AUTOMATED DATA GATEWAY</a:t>
            </a:r>
            <a:br/>
            <a:r>
              <a:t>Integrated Automated Transmission Gateway directly with Customs Portal.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  <a:latin typeface="Segoe UI"/>
              </a:defRPr>
            </a:pPr>
            <a:r>
              <a:t>3. IMMUTABLE LOGGING</a:t>
            </a:r>
            <a:br/>
            <a:r>
              <a:t>100% transaction logging (Timestamps, User Accounts, Gateway Confirmation).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5257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6430975" cy="5257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25880"/>
            <a:ext cx="62480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20040"/>
            <a:ext cx="1097280" cy="7315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8655" cy="8229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ACC15"/>
                </a:solidFill>
                <a:latin typeface="Segoe UI"/>
              </a:defRPr>
            </a:pPr>
            <a:r>
              <a:t>06 • PASAL 7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Live Verification Script &amp; Compliance Approval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🎯 LIVE SEARCH DEMO (2 SECONDS)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Invite Customs Officers to pick any random Item Code or Declaration No. to search and verify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72200" y="13258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📊 ACCOUNTING BOOKS VS STOCK ALIGNMENT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100% data consistency across Plant Accounting Books, IT Inventory Software &amp; Physical Stock.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25880"/>
            <a:ext cx="91440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FACC15"/>
                </a:solidFill>
                <a:latin typeface="Segoe UI"/>
              </a:defRPr>
            </a:pPr>
            <a:r>
              <a:t>📜 PER-24/BC/2023 FULL SATISFACTION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Meets 100% of all 5 mandatory IT Inventory Utilization Criteria required by Customs.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85232" cy="22860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🏆 QUALIFIED FOR CUSTOMS PENETAPAN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Fully qualified to receive the official Penetapan IT Inventory Approval Decision from Customs!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