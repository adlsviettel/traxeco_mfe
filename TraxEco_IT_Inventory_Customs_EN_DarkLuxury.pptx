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280160"/>
            <a:ext cx="999713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280160"/>
            <a:ext cx="999713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737360"/>
            <a:ext cx="8961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OFFICIAL CUSTOMS AUDIT REPORT (REGULATION PER-24/BC/2023)</a:t>
            </a:r>
          </a:p>
          <a:p>
            <a:pPr>
              <a:spcAft>
                <a:spcPts val="1000"/>
              </a:spcAft>
              <a:defRPr sz="2500" b="1">
                <a:solidFill>
                  <a:srgbClr val="FFFFFF"/>
                </a:solidFill>
                <a:latin typeface="Segoe UI"/>
              </a:defRPr>
            </a:pPr>
            <a:r>
              <a:t>IT INVENTORY COMPLIANCE REPORT UNDER CUSTOMS REGULATION PER-24/BC/2023</a:t>
            </a:r>
          </a:p>
          <a:p>
            <a:pPr>
              <a:spcAft>
                <a:spcPts val="2400"/>
              </a:spcAft>
              <a:defRPr sz="1400">
                <a:solidFill>
                  <a:srgbClr val="94A3B8"/>
                </a:solidFill>
                <a:latin typeface="Segoe UI"/>
              </a:defRPr>
            </a:pPr>
            <a:r>
              <a:t>Warehouse Audit Compliance &amp; IT Inventory System Implementation Report</a:t>
            </a:r>
          </a:p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Warehouse Management &amp; Plant Accounting Department | TSI / TraxEco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743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PER-24/BC/2023 AUDIT REPORT #01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INTEGRATION WITH ENTERPRISE ACCOUNTING SYSTEM (PASAL 2 (2) &amp; 4 (1)e)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600"/>
              </a:spcAft>
              <a:defRPr sz="1250" b="1">
                <a:solidFill>
                  <a:srgbClr val="FB7185"/>
                </a:solidFill>
                <a:latin typeface="Segoe UI"/>
              </a:defRPr>
            </a:pPr>
            <a:r>
              <a:t>📜 CUSTOMS MANDATE (PASAL 2 (2) &amp; PASAL 4 (1)e)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IT Inventory MUST be a Subsystem of the Enterprise Accounting Information System.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Must continuously produce financial accounting reports accessible for Customs &amp; Tax audits.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250" b="1">
                <a:solidFill>
                  <a:srgbClr val="34D399"/>
                </a:solidFill>
                <a:latin typeface="Segoe UI"/>
              </a:defRPr>
            </a:pPr>
            <a:r>
              <a:t>✅ HOW IT INVENTORY SATISFIES THIS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Directly integrated with Plant Accounting Books (Microsoft Dynamics AX).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100% automated material flow: Receiving ➔ WIP ➔ FG ➔ Scrap ➔ Stock Opname.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Accounting records synchronized continuously, eliminating manual spreadsheets.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3336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05937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989320"/>
            <a:ext cx="5059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📷 Figure 1: IT Inventory System Overview - Enterprise Accounting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743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PER-24/BC/2023 AUDIT REPORT #02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ITEM CODES, HS CODES &amp; IMPORT VS LOCAL ORIGIN (PASAL 4 (1)b.3)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600"/>
              </a:spcAft>
              <a:defRPr sz="1250" b="1">
                <a:solidFill>
                  <a:srgbClr val="FB7185"/>
                </a:solidFill>
                <a:latin typeface="Segoe UI"/>
              </a:defRPr>
            </a:pPr>
            <a:r>
              <a:t>📜 CUSTOMS MANDATE (PASAL 4 (1)b.3)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Item Code (Kode Barang) MUST be used CONSISTENTLY between Customs Declarations &amp; IT Inventory.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Must clearly distinguish Import Goods (Impor) vs Local Goods (TLDDP).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Must distinguish Processing (Pengolahan) vs Logistics (Logistik).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250" b="1">
                <a:solidFill>
                  <a:srgbClr val="34D399"/>
                </a:solidFill>
                <a:latin typeface="Segoe UI"/>
              </a:defRPr>
            </a:pPr>
            <a:r>
              <a:t>✅ HOW IT INVENTORY SATISFIES THIS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Master Data Item Catalog 100% consistent with Customs Declarations.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Automated mapping of Customs HS Codes &amp; Standard UOMs (PCS, YRD, KGM...).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Explicit origin tagging (Import vs Local) on all transaction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3336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maste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05937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989320"/>
            <a:ext cx="5059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📷 Figure 2: Master Data Catalog with Item Codes, HS Codes, Standard UOMs &amp; Origin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743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PER-24/BC/2023 AUDIT REPORT #03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RECORDING 7 INVENTORY CATEGORIES &amp; 5:00 AM CUTOFF (PASAL 4 (1)c)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600"/>
              </a:spcAft>
              <a:defRPr sz="1250" b="1">
                <a:solidFill>
                  <a:srgbClr val="FB7185"/>
                </a:solidFill>
                <a:latin typeface="Segoe UI"/>
              </a:defRPr>
            </a:pPr>
            <a:r>
              <a:t>📜 CUSTOMS MANDATE (PASAL 4 (1)c)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Must record 7 mandatory categories: Raw Materials, WIP, FG, Adjustments, Stock Opname, Reject &amp; Scrap.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Software accounting records MUST accurately reflect physical warehouse stock.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250" b="1">
                <a:solidFill>
                  <a:srgbClr val="34D399"/>
                </a:solidFill>
                <a:latin typeface="Segoe UI"/>
              </a:defRPr>
            </a:pPr>
            <a:r>
              <a:t>✅ HOW IT INVENTORY SATISFIES THIS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Accurately records all 7 mandatory inventory transaction categories under customs rules.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Applies 5:00 AM Shift Cutoff matching actual factory operational work shifts.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Software inventory balance 100% matches physical stock during customs audits.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3336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05937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989320"/>
            <a:ext cx="5059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📷 Figure 3: Stock Opname Table Page aligned with 5:00 AM Shift Cutoff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743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PER-24/BC/2023 AUDIT REPORT #04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CUSTOMS DECLARATION LINKAGE &amp; CEISA 4.0 PUSH LOCK (PASAL 4 (1)b.1, b.2)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600"/>
              </a:spcAft>
              <a:defRPr sz="1250" b="1">
                <a:solidFill>
                  <a:srgbClr val="FB7185"/>
                </a:solidFill>
                <a:latin typeface="Segoe UI"/>
              </a:defRPr>
            </a:pPr>
            <a:r>
              <a:t>📜 CUSTOMS MANDATE (PASAL 4 (1)b.1 &amp; b.2)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Must link directly with Customs Declarations (No. &amp; Date) and Transport Documents (Surat Jalan).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Strictly prohibit pushing CEISA 4.0 declarations (BC 2.7, BC 4.1...) to INSW portal.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250" b="1">
                <a:solidFill>
                  <a:srgbClr val="34D399"/>
                </a:solidFill>
                <a:latin typeface="Segoe UI"/>
              </a:defRPr>
            </a:pPr>
            <a:r>
              <a:t>✅ HOW IT INVENTORY SATISFIES THIS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Automatically links Customs Declaration No., Date &amp; Original PDF files.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Auto-detects CEISA 4.0 declarations and tags as 🔒 CEISA (Non-INSW).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AUTOMATICALLY LOCKS Transmission action for CEISA docs.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3336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pemasu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05937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989320"/>
            <a:ext cx="5059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📷 Figure 4: Pemasukan Document Import Screen showing 🔒 CEISA (Non-INSW) Badge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743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PER-24/BC/2023 AUDIT REPORT #05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AUTOMATED DATA CONNECTION &amp; 2-YEAR TRACEABILITY (PASAL 3 (1), 4 (1)a, 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600"/>
              </a:spcAft>
              <a:defRPr sz="1250" b="1">
                <a:solidFill>
                  <a:srgbClr val="FB7185"/>
                </a:solidFill>
                <a:latin typeface="Segoe UI"/>
              </a:defRPr>
            </a:pPr>
            <a:r>
              <a:t>📜 CUSTOMS MANDATE (PASAL 3 (1), PASAL 4 (1)a, d &amp; PASAL 5)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Must display data, activity history &amp; stock movement for at least 2 years prior.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Must establish an Automated Data Transmission Connection with Customs.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250" b="1">
                <a:solidFill>
                  <a:srgbClr val="34D399"/>
                </a:solidFill>
                <a:latin typeface="Segoe UI"/>
              </a:defRPr>
            </a:pPr>
            <a:r>
              <a:t>✅ HOW IT INVENTORY SATISFIES THIS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Unlimited historical data retention (&gt;2 years), sub-2-second data retrieval.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Integrated Automated Data Transmission Connection directly to Customs Portal.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Immutable Audit Logging (Timestamp, User Account, Gateway Confirmation).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3336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erfect_insw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05937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989320"/>
            <a:ext cx="5059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📷 Figure 5: Transmission History &amp; Automated Data Connection Audit Trail (&gt;2 Years)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926080" cy="27432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6B6D4"/>
                </a:solidFill>
                <a:latin typeface="Segoe UI"/>
              </a:defRPr>
            </a:pPr>
            <a:r>
              <a:t>PER-24/BC/2023 AUDIT REPORT #06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LIVE VERIFICATION SCRIPT &amp; COMPLIANCE CONCLUSION (PASAL 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325880"/>
            <a:ext cx="889985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600"/>
              </a:spcAft>
              <a:defRPr sz="1250" b="1">
                <a:solidFill>
                  <a:srgbClr val="FB7185"/>
                </a:solidFill>
                <a:latin typeface="Segoe UI"/>
              </a:defRPr>
            </a:pPr>
            <a:r>
              <a:t>📜 LIVE VERIFICATION SCRIPT FOR CUSTOMS AUDITORS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Invite Customs Officers to pick any random Item Code or Declaration Number.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Type into the Search Bar on the IT Inventory web portal.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Verify instant display of HS Code, Origin (Import/Local) &amp; Stock in 2 seconds.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  <a:latin typeface="Segoe UI"/>
              </a:defRPr>
            </a:pPr>
            <a:r>
              <a:t>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250" b="1">
                <a:solidFill>
                  <a:srgbClr val="34D399"/>
                </a:solidFill>
                <a:latin typeface="Segoe UI"/>
              </a:defRPr>
            </a:pPr>
            <a:r>
              <a:t>✅ FINAL COMPLIANCE CONCLUSION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100% Meets IT Inventory Utilization Standards under Regulation PER-24/BC/2023.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100% Data Alignment: Accounting Books = Software = Physical Stock.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  • Fully qualified for Customs Penetapan IT Inventory Approval Decision!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