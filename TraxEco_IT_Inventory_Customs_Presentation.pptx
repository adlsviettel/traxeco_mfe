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  <a:latin typeface="Arial"/>
              </a:defRPr>
            </a:pPr>
            <a:r>
              <a:t>TraxEco IT Inventory System</a:t>
            </a:r>
          </a:p>
          <a:p>
            <a:pPr>
              <a:spcBef>
                <a:spcPts val="1000"/>
              </a:spcBef>
              <a:defRPr sz="2000" b="1">
                <a:solidFill>
                  <a:srgbClr val="3BA55C"/>
                </a:solidFill>
                <a:latin typeface="Arial"/>
              </a:defRPr>
            </a:pPr>
            <a:r>
              <a:t>Indonesian Customs (Bea Cukai) Compliance &amp; INSW Integration</a:t>
            </a:r>
          </a:p>
          <a:p>
            <a:pPr>
              <a:spcBef>
                <a:spcPts val="1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Live System Screenshot Deck  •  Bea Cukai PER-24/BC/2023 Specification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30352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440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INSW API Gateway  |  PER-24/BC/2023  |  05:00 AM Daily Cut-off Window  |  Live App Captures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Executive Overview &amp; System Dashboard</a:t>
            </a:r>
          </a:p>
          <a:p>
            <a:pPr>
              <a:spcBef>
                <a:spcPts val="300"/>
              </a:spcBef>
              <a:defRPr sz="1300">
                <a:solidFill>
                  <a:srgbClr val="3BA55C"/>
                </a:solidFill>
                <a:latin typeface="Arial"/>
              </a:defRPr>
            </a:pPr>
            <a:r>
              <a:t>Live Application Command Center for Declarations &amp; Stock Tracking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9319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34747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System Highlights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PER-24/BC/2023: </a:t>
            </a:r>
            <a:r>
              <a:rPr>
                <a:solidFill>
                  <a:srgbClr val="64748B"/>
                </a:solidFill>
              </a:rPr>
              <a:t>100% compliant with Bea Cukai mandatory schemas.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Real-time Metrics: </a:t>
            </a:r>
            <a:r>
              <a:rPr>
                <a:solidFill>
                  <a:srgbClr val="64748B"/>
                </a:solidFill>
              </a:rPr>
              <a:t>Instant tracking of inbound, outbound &amp; pending files.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AXDB ERP Sync: </a:t>
            </a:r>
            <a:r>
              <a:rPr>
                <a:solidFill>
                  <a:srgbClr val="64748B"/>
                </a:solidFill>
              </a:rPr>
              <a:t>Direct connection to enterprise ERP database.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05:00 AM Cut-off: </a:t>
            </a:r>
            <a:r>
              <a:rPr>
                <a:solidFill>
                  <a:srgbClr val="64748B"/>
                </a:solidFill>
              </a:rPr>
              <a:t>Automated daily operational audit window.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65836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216912"/>
            <a:ext cx="6437376" cy="32471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Daftar Barang Master (Customs Item Master)</a:t>
            </a:r>
          </a:p>
          <a:p>
            <a:pPr>
              <a:spcBef>
                <a:spcPts val="300"/>
              </a:spcBef>
              <a:defRPr sz="1300">
                <a:solidFill>
                  <a:srgbClr val="3BA55C"/>
                </a:solidFill>
                <a:latin typeface="Arial"/>
              </a:defRPr>
            </a:pPr>
            <a:r>
              <a:t>Live Master Item Aggregator with Automated Categories 1 to 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9319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34747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Master Data Features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Unique Aggregation: </a:t>
            </a:r>
            <a:r>
              <a:rPr>
                <a:solidFill>
                  <a:srgbClr val="64748B"/>
                </a:solidFill>
              </a:rPr>
              <a:t>Deduplicates Kode Barang across all declarations.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Kategori 1 - 8 Badges: </a:t>
            </a:r>
            <a:r>
              <a:rPr>
                <a:solidFill>
                  <a:srgbClr val="64748B"/>
                </a:solidFill>
              </a:rPr>
              <a:t>Visual badges for Mesin, Bahan Baku, Produksi, Scrap, WIP.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Auditor Filter: </a:t>
            </a:r>
            <a:r>
              <a:rPr>
                <a:solidFill>
                  <a:srgbClr val="64748B"/>
                </a:solidFill>
              </a:rPr>
              <a:t>Dropdown filter for Bea Cukai category inspection.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Sticky Header: </a:t>
            </a:r>
            <a:r>
              <a:rPr>
                <a:solidFill>
                  <a:srgbClr val="64748B"/>
                </a:solidFill>
              </a:rPr>
              <a:t>Seamless scrolling with numbered page buttons.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65836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rfect_master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216912"/>
            <a:ext cx="6437376" cy="32471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Pemasukan &amp; Pengeluaran (Automated PDF Import)</a:t>
            </a:r>
          </a:p>
          <a:p>
            <a:pPr>
              <a:spcBef>
                <a:spcPts val="300"/>
              </a:spcBef>
              <a:defRPr sz="1300">
                <a:solidFill>
                  <a:srgbClr val="3BA55C"/>
                </a:solidFill>
                <a:latin typeface="Arial"/>
              </a:defRPr>
            </a:pPr>
            <a:r>
              <a:t>Live Vector OCR Extractor &amp; 3-Layer Category Classifier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9319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34747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PDF Import Features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Multi-Format Parsing: </a:t>
            </a:r>
            <a:r>
              <a:rPr>
                <a:solidFill>
                  <a:srgbClr val="64748B"/>
                </a:solidFill>
              </a:rPr>
              <a:t>BC 2.0, BC 2.3, BC 2.7, BC 4.0, BC 2.6.1 &amp; BC 2.6.2.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Zero Manual Entry: </a:t>
            </a:r>
            <a:r>
              <a:rPr>
                <a:solidFill>
                  <a:srgbClr val="64748B"/>
                </a:solidFill>
              </a:rPr>
              <a:t>Extracts items directly from vector PDF structure.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3-Layer Classifier: </a:t>
            </a:r>
            <a:r>
              <a:rPr>
                <a:solidFill>
                  <a:srgbClr val="64748B"/>
                </a:solidFill>
              </a:rPr>
              <a:t>Matches HS Code, Keywords &amp; Custom DB Mappings.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Automatic Kategori: </a:t>
            </a:r>
            <a:r>
              <a:rPr>
                <a:solidFill>
                  <a:srgbClr val="64748B"/>
                </a:solidFill>
              </a:rPr>
              <a:t>Fills INSW Category codes 1-8 with 0 manual clicks.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65836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rfect_pemasu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216912"/>
            <a:ext cx="6437376" cy="32471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Stock Opname Management (kdKegiatan: 32)</a:t>
            </a:r>
          </a:p>
          <a:p>
            <a:pPr>
              <a:spcBef>
                <a:spcPts val="300"/>
              </a:spcBef>
              <a:defRPr sz="1300">
                <a:solidFill>
                  <a:srgbClr val="3BA55C"/>
                </a:solidFill>
                <a:latin typeface="Arial"/>
              </a:defRPr>
            </a:pPr>
            <a:r>
              <a:t>Live AXDB Stock Opname Journal Sync &amp; Physical Stock Count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9319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34747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Stock Opname Features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AXDB Journal Sync: </a:t>
            </a:r>
            <a:r>
              <a:rPr>
                <a:solidFill>
                  <a:srgbClr val="64748B"/>
                </a:solidFill>
              </a:rPr>
              <a:t>Direct physical stock count sync from ERP.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System Balance Check: </a:t>
            </a:r>
            <a:r>
              <a:rPr>
                <a:solidFill>
                  <a:srgbClr val="64748B"/>
                </a:solidFill>
              </a:rPr>
              <a:t>Compares actual stock counts against system balance.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5AM Cut-off Window: </a:t>
            </a:r>
            <a:r>
              <a:rPr>
                <a:solidFill>
                  <a:srgbClr val="64748B"/>
                </a:solidFill>
              </a:rPr>
              <a:t>DATEADD(hour, -5, t.MODIFIEDDATETIME) SQL logic.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Batch Push: </a:t>
            </a:r>
            <a:r>
              <a:rPr>
                <a:solidFill>
                  <a:srgbClr val="64748B"/>
                </a:solidFill>
              </a:rPr>
              <a:t>Direct single-click push to INSW API gateway.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65836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216912"/>
            <a:ext cx="6437376" cy="32471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Inventory Adjustment (kdKegiatan: 33)</a:t>
            </a:r>
          </a:p>
          <a:p>
            <a:pPr>
              <a:spcBef>
                <a:spcPts val="300"/>
              </a:spcBef>
              <a:defRPr sz="1300">
                <a:solidFill>
                  <a:srgbClr val="3BA55C"/>
                </a:solidFill>
                <a:latin typeface="Arial"/>
              </a:defRPr>
            </a:pPr>
            <a:r>
              <a:t>Live AXDB Movement Journal Synchronization for Stock Gain &amp; Loss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9319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34747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Adjustment Features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Movement Journal Sync: </a:t>
            </a:r>
            <a:r>
              <a:rPr>
                <a:solidFill>
                  <a:srgbClr val="64748B"/>
                </a:solidFill>
              </a:rPr>
              <a:t>Syncs adjustment entries from AXDB Movement Journal.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Stock Gain &amp; Loss: </a:t>
            </a:r>
            <a:r>
              <a:rPr>
                <a:solidFill>
                  <a:srgbClr val="64748B"/>
                </a:solidFill>
              </a:rPr>
              <a:t>Handles positive gains and negative losses/scrap correctly.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Audit Reference: </a:t>
            </a:r>
            <a:r>
              <a:rPr>
                <a:solidFill>
                  <a:srgbClr val="64748B"/>
                </a:solidFill>
              </a:rPr>
              <a:t>Tracks adjustment document numbers &amp; timestamps.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INSW Transmission: </a:t>
            </a:r>
            <a:r>
              <a:rPr>
                <a:solidFill>
                  <a:srgbClr val="64748B"/>
                </a:solidFill>
              </a:rPr>
              <a:t>Sends verified adjustment records directly to gateway.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65836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rfect_adjus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216912"/>
            <a:ext cx="6437376" cy="32471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Audit Trail &amp; Push History (INSW_PushLog)</a:t>
            </a:r>
          </a:p>
          <a:p>
            <a:pPr>
              <a:spcBef>
                <a:spcPts val="300"/>
              </a:spcBef>
              <a:defRPr sz="1300">
                <a:solidFill>
                  <a:srgbClr val="3BA55C"/>
                </a:solidFill>
                <a:latin typeface="Arial"/>
              </a:defRPr>
            </a:pPr>
            <a:r>
              <a:t>Live Historical Push History &amp; Transmission Audit Log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9319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34747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Push History System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Push Log Database: </a:t>
            </a:r>
            <a:r>
              <a:rPr>
                <a:solidFill>
                  <a:srgbClr val="64748B"/>
                </a:solidFill>
              </a:rPr>
              <a:t>Stores fileId, username, status, httpStatus &amp; duration.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Full Payload Retention: </a:t>
            </a:r>
            <a:r>
              <a:rPr>
                <a:solidFill>
                  <a:srgbClr val="64748B"/>
                </a:solidFill>
              </a:rPr>
              <a:t>Saves both Request &amp; Response bodies for inspection.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HTTP 200 Verification: </a:t>
            </a:r>
            <a:r>
              <a:rPr>
                <a:solidFill>
                  <a:srgbClr val="64748B"/>
                </a:solidFill>
              </a:rPr>
              <a:t>Captures official INSW success response codes.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 Duplicate Safeguard: </a:t>
            </a:r>
            <a:r>
              <a:rPr>
                <a:solidFill>
                  <a:srgbClr val="64748B"/>
                </a:solidFill>
              </a:rPr>
              <a:t>Prevents accidental re-transmission of sent 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65836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rfect_insw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216912"/>
            <a:ext cx="6437376" cy="3247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rial"/>
              </a:defRPr>
            </a:pPr>
            <a:r>
              <a:t>Certified System Readiness</a:t>
            </a:r>
          </a:p>
          <a:p>
            <a:pPr>
              <a:spcBef>
                <a:spcPts val="800"/>
              </a:spcBef>
              <a:defRPr sz="1800" b="1">
                <a:solidFill>
                  <a:srgbClr val="3BA55C"/>
                </a:solidFill>
                <a:latin typeface="Arial"/>
              </a:defRPr>
            </a:pPr>
            <a:r>
              <a:t>Ready for Official Bea Cukai Audit &amp; INSW Production Deployment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  <a:latin typeface="Arial"/>
              </a:defRPr>
            </a:pPr>
            <a:r>
              <a:t>✔  100% Compliant with Bea Cukai PER-24/BC/2023 &amp; PER-09/BC/2014.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  <a:latin typeface="Arial"/>
              </a:defRPr>
            </a:pPr>
            <a:r>
              <a:t>✔  Automated PDF Extractor + Smart Category 1-8 Classifier.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  <a:latin typeface="Arial"/>
              </a:defRPr>
            </a:pPr>
            <a:r>
              <a:t>✔  ERP AXDB Synchronization for Stock Opname (32) &amp; Adjustment (33).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  <a:latin typeface="Arial"/>
              </a:defRPr>
            </a:pPr>
            <a:r>
              <a:t>✔  05:00 AM Daily Cut-off Operational Window Calculation.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  <a:latin typeface="Arial"/>
              </a:defRPr>
            </a:pPr>
            <a:r>
              <a:t>✔  Complete Push Log Audit Trail &amp; Production Build Verified.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