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371600"/>
            <a:ext cx="137160" cy="384048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🛡️ IT INVENTORY &amp; INSW SYSTEM</a:t>
            </a:r>
          </a:p>
          <a:p>
            <a:pPr>
              <a:spcAft>
                <a:spcPts val="2000"/>
              </a:spcAft>
              <a:defRPr sz="2000">
                <a:solidFill>
                  <a:srgbClr val="10B981"/>
                </a:solidFill>
                <a:latin typeface="Segoe UI"/>
              </a:defRPr>
            </a:pPr>
            <a:r>
              <a:t>Hệ thống Quản lý Kho IT Inventory &amp; Cổng Kết nối INSW Hải quan</a:t>
            </a:r>
          </a:p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Customs Compliance &amp; Executive Audit Presentation | Báo cáo Thuyết minh Hải quan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1. TỔNG QUAN HỆ THỐNG IT INVENTORY</a:t>
            </a:r>
          </a:p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1. SYSTEM OVERVIEW &amp; MATERIAL LIFECYCLE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🇻🇳 Tiếng Việt - Tổng quan Hệ thống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Tích hợp trực tiếp với CSDL AXDB ERP của nhà máy.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Tự động hóa toàn bộ vòng đời vật tư: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   • Nhập mua NVL &amp; Phụ liệu (Purchase)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   • Xuất NVL Sản xuất (WIP Line)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   • Nhập kho Thành phẩm (Finished Goods)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   • Báo phế &amp; Hao hụt (Scrap &amp; Loss)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   • Kiểm kê &amp; Điều chỉnh kho (Stock Opname &amp; Movement)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Đáp ứng 100% tiêu chuẩn minh bạch Hải quan.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8095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🇬🇧 English - System Overview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Direct integration with Factory AXDB ERP Database.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Automates the entire material lifecycle: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   • Raw Material &amp; Accessories Purchase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   • Work-In-Progress Issue (WIP Line)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   • Finished Goods Receiving (FG)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   • Scrap &amp; Loss Disposal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   • Stock Opname &amp; Movement Adjustments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100% compliant with Customs auditability standards.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2. CHUẨN HÓA 11 TRƯỜNG DỮ LIỆU HẢI QUAN BẮT BUỘC</a:t>
            </a:r>
          </a:p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2. MANDATORY 11 CUSTOMS DATA FIELDS STANDARDIZATION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📋 Các trường thông tin 1 - 6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1. Mã / Số chứng từ kho (nomorDokKegiatan)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2. Ngày giờ thực tế phát sinh (thoiGianThucTe)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3. Ngày chốt sổ báo cáo Cutoff 5AM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4. Loại giao dịch AX (loaiGiaoDichAX)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5. Mã vật tư / Mã nguyên liệu (kdBarang)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6. Tên mô tả chi tiết hàng hóa (uraianBarang)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8095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📋 Các trường thông tin 7 - 11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7. Mã HS Code Hải quan (hsCode)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8. Số lượng xuất / nhập / tồn (jumlah)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9. Đơn vị tính chuẩn Hải quan (kdSatuan: PCS, YRD, KGM...)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10. Trị giá ghi sổ kế toán kho (nilai)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11. Mã kho &amp; Vị trí thực tế (kho / INVENTLOCATIONID)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✔️ Đảm bảo minh bạch 100% khi Hải quan đối soát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3. QUY CHUẨN CHỐT SỔ CA ĐÊM 5:00 AM (AXDB CUTOFF)</a:t>
            </a:r>
          </a:p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3. 5:00 AM SHIFT CUTOFF REPORTING STANDARD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🇻🇳 Giải trình Quy trình Chốt sổ 5:00 AM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Đặc thù nhà máy có ca làm việc đêm kéo dài qua 12h đêm.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Nếu chốt mốc 00:00h sẽ làm sai lệch ngày kế toán kho ca đêm.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Hệ thống tích hợp công thức Cutoff 5:00 AM: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   DATEADD(hour, -5, t.MODIFIEDDATETIME)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Khung giờ chốt: 05:00:00 sáng hôm nay -&gt; 05:00:00 sáng hôm sau.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Đảm bảo khớp 100% số liệu kiểm kê thực tế tại nhà máy.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8095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🇬🇧 5:00 AM Shift Cutoff Rationale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Factory operations feature night shifts running past midnight.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A 00:00 AM cutoff would fragment night shift output dates.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Embedded 5:00 AM Cutoff Formula: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   DATEADD(hour, -5, t.MODIFIEDDATETIME)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Window: 05:00:00 AM Target Date -&gt; 05:00:00 AM Next Day.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Guarantees 100% alignment between software &amp; physical stock.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4. CƠ CHẾ PHÂN LOẠI &amp; KIỂM SOÁT RỦI RO CEISA 4.0</a:t>
            </a:r>
          </a:p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4. CEISA 4.0 CLASSIFICATION &amp; INSW RISK CONTROL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600" b="1">
                <a:solidFill>
                  <a:srgbClr val="9333EA"/>
                </a:solidFill>
                <a:latin typeface="Segoe UI"/>
              </a:defRPr>
            </a:pPr>
            <a:r>
              <a:t>🔒 Tờ khai CEISA 4.0 (Non-INSW)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Loại chứng từ: BC 2.7, BC 4.1, BC 2.6.1, BC 2.5.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Tự động nhận diện &amp; gắn nhãn: 🔒 CEISA (Non-INSW).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Tự động KHÓA nút Push lên cổng INSW.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Loại bỏ 100% rủi ro đẩy nhầm chứng từ CEISA lên INSW.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Tránh bị Hải quan phạt vi phạm dữ liệu hoặc từ chối.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Vẫn lưu trữ 100% trong kho IT Inventory phục vụ kiểm toán.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8095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🌐 Customs INSW Pushable Declarations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Applies to official INSW Customs Declaration Types.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Supports Batch Push &amp; Individual Document Transmission.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Captures real-time Portal Response Code (HTTP 200 Success).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Stores XML/JSON Payload for complete audit readiness.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Ensures total transparency for Customs Inspections.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Zero data mismatch risk across customs portals.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5. NHẬT KÝ KIỂM TOÁN TẬP TRUNG &amp; TRUY XUẤT NGUỒN GỐC</a:t>
            </a:r>
          </a:p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5. IMMUTABLE AUDIT TRAIL &amp; REAL-TIME TRACEABILITY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🇻🇳 Nhật ký Kiểm toán Không thể Sửa đổi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Lưu vết 100% thao tác trong bảng INSW_PushLog &amp; INSW_ImportedFiles.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Ghi nhận chính xác: Ngày giờ, Người thực hiện, IP kết nối.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Lưu giữ mã phản hồi Hải quan (HTTP Status Code).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Lưu giữ toàn bộ chuỗi Request &amp; Response XML/JSON.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Sẵn sàng giải trình khi Hải quan kiểm tra đột xuất.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Đáp ứng hoàn hảo kỳ báo cáo quyết toán Hải quan.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48095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/>
          <a:lstStyle/>
          <a:p>
            <a:pPr algn="ctr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🇬🇧 Immutable Centralized Audit Log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100% audit logging in INSW_PushLog &amp; INSW_ImportedFiles.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Captures Timestamp, User Account, Connection IP.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Logs exact Customs Gateway Response (HTTP Status).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Stores complete Request &amp; Response XML/JSON payloads.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Instantly ready for unannounced Customs inspections.</a:t>
            </a:r>
          </a:p>
          <a:p>
            <a:pPr>
              <a:defRPr sz="1300">
                <a:solidFill>
                  <a:srgbClr val="0F172A"/>
                </a:solidFill>
                <a:latin typeface="Segoe UI"/>
              </a:defRPr>
            </a:pPr>
            <a:r>
              <a:t>Fully aligns with annual Customs Liquidation Audits.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7200" lIns="457200"/>
          <a:lstStyle/>
          <a:p>
            <a:pPr algn="ctr">
              <a:defRPr sz="2400" b="1">
                <a:solidFill>
                  <a:srgbClr val="10B981"/>
                </a:solidFill>
                <a:latin typeface="Segoe UI"/>
              </a:defRPr>
            </a:pPr>
            <a:r>
              <a:t>🚀 DEMO TRA CỨU TRỰC TIẾP &amp; THẢO LUẬN</a:t>
            </a:r>
          </a:p>
          <a:p>
            <a:pPr>
              <a:spcAft>
                <a:spcPts val="20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LIVE RETRIEVAL DEMO &amp; EXECUTIVE Q&amp;A</a:t>
            </a:r>
          </a:p>
          <a:p>
            <a:pPr>
              <a:defRPr sz="1500">
                <a:solidFill>
                  <a:srgbClr val="FFFFFF"/>
                </a:solidFill>
                <a:latin typeface="Segoe UI"/>
              </a:defRPr>
            </a:pPr>
            <a:r>
              <a:t>1. Kính mời Cán bộ Hải quan / BGD chọn 1 Mã vật tư hoặc Số tờ khai bất kỳ.</a:t>
            </a:r>
          </a:p>
          <a:p>
            <a:pPr>
              <a:defRPr sz="1500">
                <a:solidFill>
                  <a:srgbClr val="FFFFFF"/>
                </a:solidFill>
                <a:latin typeface="Segoe UI"/>
              </a:defRPr>
            </a:pPr>
            <a:r>
              <a:t>2. Nhập vào thanh Tìm kiếm (Search Bar) trên giao diện IT Inventory.</a:t>
            </a:r>
          </a:p>
          <a:p>
            <a:pPr>
              <a:defRPr sz="1500">
                <a:solidFill>
                  <a:srgbClr val="FFFFFF"/>
                </a:solidFill>
                <a:latin typeface="Segoe UI"/>
              </a:defRPr>
            </a:pPr>
            <a:r>
              <a:t>3. Hệ thống trả về tức thì toàn bộ HS Code, ĐVT, Số lượng &amp; Trạng thái kho trong 2 giây.</a:t>
            </a:r>
          </a:p>
          <a:p>
            <a:pPr>
              <a:defRPr sz="1500">
                <a:solidFill>
                  <a:srgbClr val="FFFFFF"/>
                </a:solidFill>
                <a:latin typeface="Segoe UI"/>
              </a:defRPr>
            </a:pPr>
            <a:r>
              <a:t>4. Xin chân thành cảm ơn sự lắng nghe của Đoàn kiểm tra!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