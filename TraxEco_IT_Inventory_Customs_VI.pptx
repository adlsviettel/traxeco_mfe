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731520"/>
            <a:ext cx="10728655" cy="329184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9728" cy="3291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8778240" y="1051560"/>
            <a:ext cx="2286000" cy="868680"/>
          </a:xfrm>
          <a:prstGeom prst="rect">
            <a:avLst/>
          </a:prstGeom>
        </p:spPr>
      </p:pic>
      <p:sp>
        <p:nvSpPr>
          <p:cNvPr id="5" name="TextBox 4"/>
          <p:cNvSpPr txBox="1"/>
          <p:nvPr/>
        </p:nvSpPr>
        <p:spPr>
          <a:xfrm>
            <a:off x="1097280" y="960120"/>
            <a:ext cx="7498079" cy="2834640"/>
          </a:xfrm>
          <a:prstGeom prst="rect">
            <a:avLst/>
          </a:prstGeom>
          <a:noFill/>
        </p:spPr>
        <p:txBody>
          <a:bodyPr wrap="square" lIns="0" rIns="0" tIns="0" bIns="0">
            <a:spAutoFit/>
          </a:bodyPr>
          <a:lstStyle/>
          <a:p>
            <a:pPr>
              <a:spcAft>
                <a:spcPts val="800"/>
              </a:spcAft>
              <a:defRPr sz="1150" b="1">
                <a:solidFill>
                  <a:srgbClr val="1D4ED8"/>
                </a:solidFill>
                <a:latin typeface="Segoe UI"/>
              </a:defRPr>
            </a:pPr>
            <a:r>
              <a:t>CỘNG HÒA INDONESIA • THÔNG TƯ PER-24/BC/2023 CỦA CỤC HẢI QUAN &amp; THUẾ</a:t>
            </a:r>
          </a:p>
          <a:p>
            <a:pPr>
              <a:spcAft>
                <a:spcPts val="1000"/>
              </a:spcAft>
              <a:defRPr sz="2600" b="1">
                <a:solidFill>
                  <a:srgbClr val="0F172A"/>
                </a:solidFill>
                <a:latin typeface="Segoe UI"/>
              </a:defRPr>
            </a:pPr>
            <a:r>
              <a:t>THUYẾT TRÌNH HỆ THỐNG IT INVENTORY</a:t>
            </a:r>
          </a:p>
          <a:p>
            <a:pPr>
              <a:spcAft>
                <a:spcPts val="1800"/>
              </a:spcAft>
              <a:defRPr sz="1350">
                <a:solidFill>
                  <a:srgbClr val="475569"/>
                </a:solidFill>
                <a:latin typeface="Segoe UI"/>
              </a:defRPr>
            </a:pPr>
            <a:r>
              <a:t>Báo cáo Thuyết minh Mức độ Đáp ứng Tiêu chuẩn Pháp lý theo PER-24/BC/2023 Cục Hải quan Indonesia</a:t>
            </a:r>
          </a:p>
          <a:p>
            <a:pPr>
              <a:defRPr sz="1200" b="1">
                <a:solidFill>
                  <a:srgbClr val="1D4ED8"/>
                </a:solidFill>
                <a:latin typeface="Segoe UI"/>
              </a:defRPr>
            </a:pPr>
            <a:r>
              <a:t>Bộ phận Quản lý Kho &amp; Kế toán Nhà máy | PT. Trax Apparel Indonesia</a:t>
            </a:r>
          </a:p>
        </p:txBody>
      </p:sp>
      <p:sp>
        <p:nvSpPr>
          <p:cNvPr id="6" name="Rectangle 5"/>
          <p:cNvSpPr/>
          <p:nvPr/>
        </p:nvSpPr>
        <p:spPr>
          <a:xfrm>
            <a:off x="7315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2(2)</a:t>
            </a:r>
          </a:p>
          <a:p>
            <a:pPr>
              <a:spcAft>
                <a:spcPts val="400"/>
              </a:spcAft>
              <a:defRPr sz="1100" b="1">
                <a:solidFill>
                  <a:srgbClr val="0F172A"/>
                </a:solidFill>
                <a:latin typeface="Segoe UI"/>
              </a:defRPr>
            </a:pPr>
            <a:r>
              <a:t>SỔ SÁCH KẾ TOÁN DOANH NGHIỆP</a:t>
            </a:r>
          </a:p>
          <a:p>
            <a:pPr>
              <a:defRPr sz="1000">
                <a:solidFill>
                  <a:srgbClr val="475569"/>
                </a:solidFill>
                <a:latin typeface="Segoe UI"/>
              </a:defRPr>
            </a:pPr>
            <a:r>
              <a:t>Phân hệ thuộc Hệ thống Thông tin Kế toán Doanh nghiệp (AXDB ERP)</a:t>
            </a:r>
          </a:p>
        </p:txBody>
      </p:sp>
      <p:sp>
        <p:nvSpPr>
          <p:cNvPr id="7" name="Rectangle 6"/>
          <p:cNvSpPr/>
          <p:nvPr/>
        </p:nvSpPr>
        <p:spPr>
          <a:xfrm>
            <a:off x="7315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4(1)a</a:t>
            </a:r>
          </a:p>
          <a:p>
            <a:pPr>
              <a:spcAft>
                <a:spcPts val="400"/>
              </a:spcAft>
              <a:defRPr sz="1100" b="1">
                <a:solidFill>
                  <a:srgbClr val="0F172A"/>
                </a:solidFill>
                <a:latin typeface="Segoe UI"/>
              </a:defRPr>
            </a:pPr>
            <a:r>
              <a:t>LỊCH SỬ DỮ LIỆU ≥2 NĂM</a:t>
            </a:r>
          </a:p>
          <a:p>
            <a:pPr>
              <a:defRPr sz="1000">
                <a:solidFill>
                  <a:srgbClr val="475569"/>
                </a:solidFill>
                <a:latin typeface="Segoe UI"/>
              </a:defRPr>
            </a:pPr>
            <a:r>
              <a:t>Hiển thị dữ liệu &amp; biến động kho tối thiểu 2 năm trước đó</a:t>
            </a:r>
          </a:p>
        </p:txBody>
      </p:sp>
      <p:sp>
        <p:nvSpPr>
          <p:cNvPr id="9" name="Rectangle 8"/>
          <p:cNvSpPr/>
          <p:nvPr/>
        </p:nvSpPr>
        <p:spPr>
          <a:xfrm>
            <a:off x="43891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4(1)b.3</a:t>
            </a:r>
          </a:p>
          <a:p>
            <a:pPr>
              <a:spcAft>
                <a:spcPts val="400"/>
              </a:spcAft>
              <a:defRPr sz="1100" b="1">
                <a:solidFill>
                  <a:srgbClr val="0F172A"/>
                </a:solidFill>
                <a:latin typeface="Segoe UI"/>
              </a:defRPr>
            </a:pPr>
            <a:r>
              <a:t>CHUẨN HÓA KODE BARANG</a:t>
            </a:r>
          </a:p>
          <a:p>
            <a:pPr>
              <a:defRPr sz="1000">
                <a:solidFill>
                  <a:srgbClr val="475569"/>
                </a:solidFill>
                <a:latin typeface="Segoe UI"/>
              </a:defRPr>
            </a:pPr>
            <a:r>
              <a:t>Mã hàng dùng nhất quán Tờ khai, phân loại rõ Impor vs TLDDP</a:t>
            </a:r>
          </a:p>
        </p:txBody>
      </p:sp>
      <p:sp>
        <p:nvSpPr>
          <p:cNvPr id="11" name="Rectangle 10"/>
          <p:cNvSpPr/>
          <p:nvPr/>
        </p:nvSpPr>
        <p:spPr>
          <a:xfrm>
            <a:off x="80467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MỤC LỤC BÁO CÁO. CẤU TRÚC TUÂN THỦ QUY ĐỊNH PER-24/BC/2023</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5 Khối Báo cáo Chức năng Trọng yếu của IT Inventory</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35608"/>
            <a:ext cx="731520" cy="640080"/>
          </a:xfrm>
          <a:prstGeom prst="rect">
            <a:avLst/>
          </a:prstGeom>
          <a:noFill/>
        </p:spPr>
        <p:txBody>
          <a:bodyPr wrap="none" lIns="0" rIns="0" tIns="0" bIns="0">
            <a:spAutoFit/>
          </a:bodyPr>
          <a:lstStyle/>
          <a:p>
            <a:pPr>
              <a:defRPr sz="2400" b="1">
                <a:solidFill>
                  <a:srgbClr val="1D4ED8"/>
                </a:solidFill>
                <a:latin typeface="Segoe UI"/>
              </a:defRPr>
            </a:pPr>
            <a:r>
              <a:t>01</a:t>
            </a:r>
          </a:p>
        </p:txBody>
      </p:sp>
      <p:sp>
        <p:nvSpPr>
          <p:cNvPr id="9" name="TextBox 8"/>
          <p:cNvSpPr txBox="1"/>
          <p:nvPr/>
        </p:nvSpPr>
        <p:spPr>
          <a:xfrm>
            <a:off x="1737360" y="1435608"/>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Nhập kho (Pemasukan) &amp; Tờ khai Hải quan</a:t>
            </a:r>
          </a:p>
          <a:p>
            <a:pPr>
              <a:defRPr sz="950">
                <a:solidFill>
                  <a:srgbClr val="0F172A"/>
                </a:solidFill>
                <a:latin typeface="Segoe UI"/>
              </a:defRPr>
            </a:pPr>
            <a:r>
              <a:t>Bắt buộc ghi nhận đầy đủ số tờ khai (BC 2.0, BC 2.3, BC 4.0), hóa đơn VAT, bóc tách nguồn gốc Impor vs TLDDP và mã hàng nhất quán 100%.</a:t>
            </a:r>
          </a:p>
        </p:txBody>
      </p:sp>
      <p:sp>
        <p:nvSpPr>
          <p:cNvPr id="10" name="TextBox 9"/>
          <p:cNvSpPr txBox="1"/>
          <p:nvPr/>
        </p:nvSpPr>
        <p:spPr>
          <a:xfrm>
            <a:off x="9326880" y="1435608"/>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b.3, b.4</a:t>
            </a:r>
          </a:p>
        </p:txBody>
      </p:sp>
      <p:sp>
        <p:nvSpPr>
          <p:cNvPr id="11" name="Rectangle 10"/>
          <p:cNvSpPr/>
          <p:nvPr/>
        </p:nvSpPr>
        <p:spPr>
          <a:xfrm>
            <a:off x="731520" y="2368296"/>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368296"/>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478024"/>
            <a:ext cx="731520" cy="640080"/>
          </a:xfrm>
          <a:prstGeom prst="rect">
            <a:avLst/>
          </a:prstGeom>
          <a:noFill/>
        </p:spPr>
        <p:txBody>
          <a:bodyPr wrap="none" lIns="0" rIns="0" tIns="0" bIns="0">
            <a:spAutoFit/>
          </a:bodyPr>
          <a:lstStyle/>
          <a:p>
            <a:pPr>
              <a:defRPr sz="2400" b="1">
                <a:solidFill>
                  <a:srgbClr val="1D4ED8"/>
                </a:solidFill>
                <a:latin typeface="Segoe UI"/>
              </a:defRPr>
            </a:pPr>
            <a:r>
              <a:t>02</a:t>
            </a:r>
          </a:p>
        </p:txBody>
      </p:sp>
      <p:sp>
        <p:nvSpPr>
          <p:cNvPr id="14" name="TextBox 13"/>
          <p:cNvSpPr txBox="1"/>
          <p:nvPr/>
        </p:nvSpPr>
        <p:spPr>
          <a:xfrm>
            <a:off x="1737360" y="2478024"/>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Xuất kho (Pengeluaran) &amp; Phiếu giao hàng (Surat Jalan)</a:t>
            </a:r>
          </a:p>
          <a:p>
            <a:pPr>
              <a:defRPr sz="950">
                <a:solidFill>
                  <a:srgbClr val="0F172A"/>
                </a:solidFill>
                <a:latin typeface="Segoe UI"/>
              </a:defRPr>
            </a:pPr>
            <a:r>
              <a:t>Quản lý chứng từ xuất kho (BC 3.0, BC 2.7, BC 4.1), di chuyển hàng nội bộ KEK làm Surat Jalan và khóa truyền dữ liệu với chứng từ CEISA.</a:t>
            </a:r>
          </a:p>
        </p:txBody>
      </p:sp>
      <p:sp>
        <p:nvSpPr>
          <p:cNvPr id="15" name="TextBox 14"/>
          <p:cNvSpPr txBox="1"/>
          <p:nvPr/>
        </p:nvSpPr>
        <p:spPr>
          <a:xfrm>
            <a:off x="9326880" y="2478024"/>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b.2</a:t>
            </a:r>
          </a:p>
        </p:txBody>
      </p:sp>
      <p:sp>
        <p:nvSpPr>
          <p:cNvPr id="16" name="Rectangle 15"/>
          <p:cNvSpPr/>
          <p:nvPr/>
        </p:nvSpPr>
        <p:spPr>
          <a:xfrm>
            <a:off x="731520" y="3410711"/>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410711"/>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520439"/>
            <a:ext cx="731520" cy="640080"/>
          </a:xfrm>
          <a:prstGeom prst="rect">
            <a:avLst/>
          </a:prstGeom>
          <a:noFill/>
        </p:spPr>
        <p:txBody>
          <a:bodyPr wrap="none" lIns="0" rIns="0" tIns="0" bIns="0">
            <a:spAutoFit/>
          </a:bodyPr>
          <a:lstStyle/>
          <a:p>
            <a:pPr>
              <a:defRPr sz="2400" b="1">
                <a:solidFill>
                  <a:srgbClr val="1D4ED8"/>
                </a:solidFill>
                <a:latin typeface="Segoe UI"/>
              </a:defRPr>
            </a:pPr>
            <a:r>
              <a:t>03</a:t>
            </a:r>
          </a:p>
        </p:txBody>
      </p:sp>
      <p:sp>
        <p:nvSpPr>
          <p:cNvPr id="19" name="TextBox 18"/>
          <p:cNvSpPr txBox="1"/>
          <p:nvPr/>
        </p:nvSpPr>
        <p:spPr>
          <a:xfrm>
            <a:off x="1737360" y="3520439"/>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Biến động kho (Mutasi) &amp; Kiểm kê Stock Opname Tự động</a:t>
            </a:r>
          </a:p>
          <a:p>
            <a:pPr>
              <a:defRPr sz="950">
                <a:solidFill>
                  <a:srgbClr val="0F172A"/>
                </a:solidFill>
                <a:latin typeface="Segoe UI"/>
              </a:defRPr>
            </a:pPr>
            <a:r>
              <a:t>Ghi nhận đủ 7 danh mục biến động kho theo luật định; áp dụng quy trình Chốt sổ Kho ca đêm lúc 5:00 AM khớp 100% với kiểm kê thực tế bãi kho.</a:t>
            </a:r>
          </a:p>
        </p:txBody>
      </p:sp>
      <p:sp>
        <p:nvSpPr>
          <p:cNvPr id="20" name="TextBox 19"/>
          <p:cNvSpPr txBox="1"/>
          <p:nvPr/>
        </p:nvSpPr>
        <p:spPr>
          <a:xfrm>
            <a:off x="9326880" y="3520439"/>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4(1)c &amp; 4(2)</a:t>
            </a:r>
          </a:p>
        </p:txBody>
      </p:sp>
      <p:sp>
        <p:nvSpPr>
          <p:cNvPr id="21" name="Rectangle 20"/>
          <p:cNvSpPr/>
          <p:nvPr/>
        </p:nvSpPr>
        <p:spPr>
          <a:xfrm>
            <a:off x="731520" y="4453128"/>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453128"/>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562856"/>
            <a:ext cx="731520" cy="640080"/>
          </a:xfrm>
          <a:prstGeom prst="rect">
            <a:avLst/>
          </a:prstGeom>
          <a:noFill/>
        </p:spPr>
        <p:txBody>
          <a:bodyPr wrap="none" lIns="0" rIns="0" tIns="0" bIns="0">
            <a:spAutoFit/>
          </a:bodyPr>
          <a:lstStyle/>
          <a:p>
            <a:pPr>
              <a:defRPr sz="2400" b="1">
                <a:solidFill>
                  <a:srgbClr val="1D4ED8"/>
                </a:solidFill>
                <a:latin typeface="Segoe UI"/>
              </a:defRPr>
            </a:pPr>
            <a:r>
              <a:t>04</a:t>
            </a:r>
          </a:p>
        </p:txBody>
      </p:sp>
      <p:sp>
        <p:nvSpPr>
          <p:cNvPr id="24" name="TextBox 23"/>
          <p:cNvSpPr txBox="1"/>
          <p:nvPr/>
        </p:nvSpPr>
        <p:spPr>
          <a:xfrm>
            <a:off x="1737360" y="4562856"/>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Điều chỉnh kho (Penyesuaian) &amp; Truyền dữ liệu Tự động 24/7</a:t>
            </a:r>
          </a:p>
          <a:p>
            <a:pPr>
              <a:defRPr sz="950">
                <a:solidFill>
                  <a:srgbClr val="0F172A"/>
                </a:solidFill>
                <a:latin typeface="Segoe UI"/>
              </a:defRPr>
            </a:pPr>
            <a:r>
              <a:t>Ghi nhận nhật ký điều chỉnh kiểm kê, lưu trữ CSDL lịch sử &gt;2 năm và kết nối truyền nhận dữ liệu tự động 24/7 trực tiếp qua cổng API Hải quan.</a:t>
            </a:r>
          </a:p>
        </p:txBody>
      </p:sp>
      <p:sp>
        <p:nvSpPr>
          <p:cNvPr id="25" name="TextBox 24"/>
          <p:cNvSpPr txBox="1"/>
          <p:nvPr/>
        </p:nvSpPr>
        <p:spPr>
          <a:xfrm>
            <a:off x="9326880" y="4562856"/>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3(1) &amp; 4(1)a, d</a:t>
            </a:r>
          </a:p>
        </p:txBody>
      </p:sp>
      <p:sp>
        <p:nvSpPr>
          <p:cNvPr id="26" name="Rectangle 25"/>
          <p:cNvSpPr/>
          <p:nvPr/>
        </p:nvSpPr>
        <p:spPr>
          <a:xfrm>
            <a:off x="731520" y="5495544"/>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495544"/>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605272"/>
            <a:ext cx="731520" cy="640080"/>
          </a:xfrm>
          <a:prstGeom prst="rect">
            <a:avLst/>
          </a:prstGeom>
          <a:noFill/>
        </p:spPr>
        <p:txBody>
          <a:bodyPr wrap="none" lIns="0" rIns="0" tIns="0" bIns="0">
            <a:spAutoFit/>
          </a:bodyPr>
          <a:lstStyle/>
          <a:p>
            <a:pPr>
              <a:defRPr sz="2400" b="1">
                <a:solidFill>
                  <a:srgbClr val="1D4ED8"/>
                </a:solidFill>
                <a:latin typeface="Segoe UI"/>
              </a:defRPr>
            </a:pPr>
            <a:r>
              <a:t>05</a:t>
            </a:r>
          </a:p>
        </p:txBody>
      </p:sp>
      <p:sp>
        <p:nvSpPr>
          <p:cNvPr id="29" name="TextBox 28"/>
          <p:cNvSpPr txBox="1"/>
          <p:nvPr/>
        </p:nvSpPr>
        <p:spPr>
          <a:xfrm>
            <a:off x="1737360" y="5605272"/>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Tích hợp Hệ thống Thông tin Kế toán Doanh nghiệp (Sistem Akuntansi)</a:t>
            </a:r>
          </a:p>
          <a:p>
            <a:pPr>
              <a:defRPr sz="950">
                <a:solidFill>
                  <a:srgbClr val="0F172A"/>
                </a:solidFill>
                <a:latin typeface="Segoe UI"/>
              </a:defRPr>
            </a:pPr>
            <a:r>
              <a:t>IT Inventory vận hành khép kín trực tiếp trên CSDL Kế toán Nhà máy (AXDB ERP), đáp ứng kiểm tra chéo giữa Hải quan và Cơ quan Thuế.</a:t>
            </a:r>
          </a:p>
        </p:txBody>
      </p:sp>
      <p:sp>
        <p:nvSpPr>
          <p:cNvPr id="30" name="TextBox 29"/>
          <p:cNvSpPr txBox="1"/>
          <p:nvPr/>
        </p:nvSpPr>
        <p:spPr>
          <a:xfrm>
            <a:off x="9326880" y="5605272"/>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2(2) &amp; 4(1)e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01. PASAL 4(1)B.1, B.3, B.4</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Nhập kho (PEMASUKAN) &amp; Căn cứ Dữ liệu Tờ khai Hải quan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Quản lý toàn bộ dữ liệu nhập kho nguyên liệu, vật tư, máy móc thiết bị nhập khẩu từ nước ngoài và mua nội địa trong nước.</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4(1)b.1, b.3, b.4)</a:t>
            </a:r>
          </a:p>
          <a:p>
            <a:pPr>
              <a:defRPr sz="950">
                <a:solidFill>
                  <a:srgbClr val="0F172A"/>
                </a:solidFill>
                <a:latin typeface="Segoe UI"/>
              </a:defRPr>
            </a:pPr>
            <a:r>
              <a:t>• Bắt buộc ghi nhận đầy đủ Loại, Số và Ngày chứng từ Hải quan (PPKEK/BC 2.0, BC 2.3, BC 4.0) hoặc Hóa đơn VAT (TLDDP).</a:t>
            </a:r>
            <a:br/>
            <a:r>
              <a:t>• Mã hàng (Kode Barang) BẮT BUỘC dùng nhất quán 100% giữa Tờ khai Hải quan và Sổ kho IT Inventory; Phân loại rõ hàng Impor vs TLDDP và Hàng chế biến (Pengolahan) vs Kho vận (Logistik).</a:t>
            </a:r>
            <a:br/>
            <a:r>
              <a:t>• Ghi nhận kèm chứng từ tài chính (Invoice, Purchase Order).</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Tự động liên kết Chi tiết Tờ khai nhập khẩu, Số Hóa đơn, Ngày chứng từ và lưu trữ thư viện PDF chứng từ gốc.</a:t>
            </a:r>
            <a:br/>
            <a:r>
              <a:t>✔ Chuẩn hóa Mã hàng Kode Barang trùng khớp 100% với Tờ khai Hải quan &amp; HS Code; Tự động bóc tách và gán nhãn Nguồn gốc Impor vs TLDDP trên từng dòng thẻ kho.</a:t>
            </a:r>
          </a:p>
        </p:txBody>
      </p:sp>
      <p:pic>
        <p:nvPicPr>
          <p:cNvPr id="9" name="Picture 8" descr="final_slide3_pemasuk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02. PASAL 4(1)B.1, B.2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Xuất kho (PENGELUARAN) &amp; Chứng từ Phiếu giao hàng (Surat Jalan)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Quản lý dữ liệu xuất kho nguyên liệu cho sản xuất, xuất chuyển kho nội bộ và xuất khẩu sản phẩm thành phẩm ra khỏi nhà máy.</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4(1)b.1, b.2)</a:t>
            </a:r>
          </a:p>
          <a:p>
            <a:pPr>
              <a:defRPr sz="950">
                <a:solidFill>
                  <a:srgbClr val="0F172A"/>
                </a:solidFill>
                <a:latin typeface="Segoe UI"/>
              </a:defRPr>
            </a:pPr>
            <a:r>
              <a:t>• Bắt buộc ghi nhận đầy đủ chứng từ xuất kho (Laporan Pengeluaran) gồm: Loại chứng từ, Số/Ngày Tờ khai Hải quan xuất khẩu (PPKEK/BC 3.0, BC 2.7, BC 4.1).</a:t>
            </a:r>
            <a:br/>
            <a:r>
              <a:t>• Bắt buộc liên kết Chứng từ di chuyển hàng hóa nội bộ giữa các Pelaku Usaha trong KEK đóng vai trò Phiếu giao hàng (Surat Jalan).</a:t>
            </a:r>
            <a:br/>
            <a:r>
              <a:t>• Đảm bảo dữ liệu xuất kho đối soát trùng khớp 100% giữa Sổ sách Kế toán Doanh nghiệp và Cổng dữ liệu Hải quan.</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Tự động liên kết Chi tiết Tờ khai Hải quan xuất khẩu, Surat Jalan và lưu trữ thư viện PDF chứng từ gốc.</a:t>
            </a:r>
            <a:br/>
            <a:r>
              <a:t>✔ Tự động nhận diện chứng từ CEISA 4.0 nội bộ, gắn nhãn 🔒 CEISA (Non-INSW) và TỰ ĐỘNG KHÓA nút truyền dữ liệu để bảo vệ an toàn vận hành nhà máy, ngăn ngừa 100% rủi ro nhân viên thao tác nhầm lên Cổng INSW.</a:t>
            </a:r>
          </a:p>
        </p:txBody>
      </p:sp>
      <p:pic>
        <p:nvPicPr>
          <p:cNvPr id="9" name="Picture 8" descr="final_slide4_pengeluar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03. PASAL 4(1)C &amp; 4(2)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Biến động kho (MUTASI) &amp; Kiểm kê Stock Opname Tự động</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Báo cáo tổng hợp biến động xuất nhập tồn kho và kiểm kê bãi kho thực tế của nhà máy.</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4(1)c &amp; PASAL 4(2))</a:t>
            </a:r>
          </a:p>
          <a:p>
            <a:pPr>
              <a:defRPr sz="950">
                <a:solidFill>
                  <a:srgbClr val="0F172A"/>
                </a:solidFill>
                <a:latin typeface="Segoe UI"/>
              </a:defRPr>
            </a:pPr>
            <a:r>
              <a:t>• Phải ghi nhận Báo cáo Biến động kho (Laporan Mutasi Barang) đủ danh mục: Nguyên liệu (Bahan Baku), Phụ liệu (Bahan Penolong), Hàng dang dở (Work in Process - WIP), Máy móc thiết bị, Điều chỉnh (Adjustment), Thành phẩm (Finished Good), Kiểm kê (Stock Opname), Hàng lỗi (Reject) và Phế liệu/Phế thải (Scrap/Sisa).</a:t>
            </a:r>
            <a:br/>
            <a:r>
              <a:t>• Ngoại lệ: Doanh nghiệp dịch vụ và kho vận logistics không bắt buộc ghi nhận hàng dang dở (WIP).</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Báo cáo Biến động kho tự động tổng hợp chi tiết khép kín theo đúng 7 danh mục Hải quan quy định.</a:t>
            </a:r>
            <a:br/>
            <a:r>
              <a:t>✔ Áp dụng Quy trình Chốt sổ Kho ca đêm lúc 5:00 AM theo đúng ca sản xuất thực tế nhà máy, đảm bảo sản lượng ca đêm khớp 100% với bãi kho khi Hải quan đột xuất kiểm tra.</a:t>
            </a:r>
          </a:p>
        </p:txBody>
      </p:sp>
      <p:pic>
        <p:nvPicPr>
          <p:cNvPr id="9" name="Picture 8" descr="final_slide5_stock_opname.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04. PASAL 3(1) &amp; PASAL 4(1)A, D</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Điều chỉnh kho (PENYESUAIAN) &amp; Truyền dữ liệu Tự động 24/7</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Ghi nhận điều chỉnh chênh lệch kho sau kiểm kê và hạ tầng kết nối truyền dữ liệu trực tuyến với Cục Hải quan.</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3(1), PASAL 4(1)a, d)</a:t>
            </a:r>
          </a:p>
          <a:p>
            <a:pPr>
              <a:defRPr sz="950">
                <a:solidFill>
                  <a:srgbClr val="0F172A"/>
                </a:solidFill>
                <a:latin typeface="Segoe UI"/>
              </a:defRPr>
            </a:pPr>
            <a:r>
              <a:t>• Bắt buộc ghi nhận Báo cáo Điều chỉnh kho (Laporan Penyesuaian) khi có chênh lệch kiểm kê thực tế.</a:t>
            </a:r>
            <a:br/>
            <a:r>
              <a:t>• Hiển thị dữ liệu, nhật ký hoạt động và biến động hàng hóa tối thiểu trong thời gian 2 năm trước đó (minimal 2 tahun).</a:t>
            </a:r>
            <a:br/>
            <a:r>
              <a:t>• Kết nối truyền nhận dữ liệu tự động 24/7 trực tiếp qua cổng API (Application Programming Interface).</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Ghi nhận nhật ký điều chỉnh kho không thể sửa xóa (Audit Log / Penyesuaian Report).</a:t>
            </a:r>
            <a:br/>
            <a:r>
              <a:t>✔ Lưu trữ CSDL lịch sử kho không giới hạn (&gt;2 năm), phục vụ tra cứu tức thì trong 2 giây; Cổng kết nối truyền nhận dữ liệu tự động API 24/7 trực tiếp tới Cổng Hải quan.</a:t>
            </a:r>
          </a:p>
        </p:txBody>
      </p:sp>
      <p:pic>
        <p:nvPicPr>
          <p:cNvPr id="9" name="Picture 8" descr="final_slide6_adjustment.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05. PASAL 2(2) &amp; PASAL 4(1)E</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Tích hợp Hệ thống Thông tin Kế toán Doanh nghiệp (Sistem Informasi Akuntansi)</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Tích hợp luồng dữ liệu vật tư kho tự động khép kín trực tiếp với CSDL Sổ sách Kế toán Doanh nghiệp.</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2(2) &amp; PASAL 4(1)e)</a:t>
            </a:r>
          </a:p>
          <a:p>
            <a:pPr>
              <a:defRPr sz="950">
                <a:solidFill>
                  <a:srgbClr val="0F172A"/>
                </a:solidFill>
                <a:latin typeface="Segoe UI"/>
              </a:defRPr>
            </a:pPr>
            <a:r>
              <a:t>• IT Inventory BẮT BUỘC là Phân hệ thuộc Hệ thống Thông tin Kế toán Doanh nghiệp (Sistem Informasi Akuntansi).</a:t>
            </a:r>
            <a:br/>
            <a:r>
              <a:t>• Phải ghi nhận dữ liệu liên tục phục vụ lập Báo cáo Tài chính và sẵn sàng cho Cơ quan Hải quan &amp; Cơ quan Thuế kiểm tra.</a:t>
            </a:r>
            <a:br/>
            <a:r>
              <a:t>• Phải tạo và cung cấp dữ liệu phản ánh việc di chuyển và chế biến hàng hóa được hưởng ưu đãi thuế, hải quan.</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Tích hợp trực tiếp CSDL Sổ sách Kế toán Nhà máy (AXDB ERP), không dùng phần mềm rời hay file Excel ngoài.</a:t>
            </a:r>
            <a:br/>
            <a:r>
              <a:t>✔ Tự động hóa khép kín 100% vòng đời vật tư: Mua Nguyên liệu ➔ Xuất Sản xuất WIP ➔ Nhập Thành phẩm ➔ Phế liệu/Báo phế ➔ Kiểm kê kho.</a:t>
            </a:r>
          </a:p>
        </p:txBody>
      </p:sp>
      <p:pic>
        <p:nvPicPr>
          <p:cNvPr id="9" name="Picture 8" descr="final_slide7_master_data.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645920"/>
            <a:ext cx="4142232" cy="1554480"/>
          </a:xfrm>
          <a:prstGeom prst="rect">
            <a:avLst/>
          </a:prstGeom>
        </p:spPr>
      </p:pic>
      <p:sp>
        <p:nvSpPr>
          <p:cNvPr id="5" name="TextBox 4"/>
          <p:cNvSpPr txBox="1"/>
          <p:nvPr/>
        </p:nvSpPr>
        <p:spPr>
          <a:xfrm>
            <a:off x="1828800" y="3566160"/>
            <a:ext cx="8534095" cy="2011680"/>
          </a:xfrm>
          <a:prstGeom prst="rect">
            <a:avLst/>
          </a:prstGeom>
          <a:noFill/>
        </p:spPr>
        <p:txBody>
          <a:bodyPr wrap="square">
            <a:spAutoFit/>
          </a:bodyPr>
          <a:lstStyle/>
          <a:p>
            <a:pPr algn="ctr">
              <a:spcAft>
                <a:spcPts val="800"/>
              </a:spcAft>
              <a:defRPr sz="3600" b="1">
                <a:solidFill>
                  <a:srgbClr val="0F172A"/>
                </a:solidFill>
                <a:latin typeface="Segoe UI"/>
              </a:defRPr>
            </a:pPr>
            <a:r>
              <a:t>QUESTION &amp; ANSWER</a:t>
            </a:r>
          </a:p>
          <a:p>
            <a:pPr algn="ctr">
              <a:defRPr sz="2000" b="1">
                <a:solidFill>
                  <a:srgbClr val="1D4ED8"/>
                </a:solidFill>
                <a:latin typeface="Segoe UI"/>
              </a:defRPr>
            </a:pPr>
            <a:r>
              <a:t>PHIÊN THẢO LUẬN &amp; GIẢI ĐÁP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828800"/>
            <a:ext cx="4142232" cy="1554480"/>
          </a:xfrm>
          <a:prstGeom prst="rect">
            <a:avLst/>
          </a:prstGeom>
        </p:spPr>
      </p:pic>
      <p:sp>
        <p:nvSpPr>
          <p:cNvPr id="5" name="TextBox 4"/>
          <p:cNvSpPr txBox="1"/>
          <p:nvPr/>
        </p:nvSpPr>
        <p:spPr>
          <a:xfrm>
            <a:off x="1828800" y="3749039"/>
            <a:ext cx="8534095" cy="1645920"/>
          </a:xfrm>
          <a:prstGeom prst="rect">
            <a:avLst/>
          </a:prstGeom>
          <a:noFill/>
        </p:spPr>
        <p:txBody>
          <a:bodyPr wrap="square">
            <a:spAutoFit/>
          </a:bodyPr>
          <a:lstStyle/>
          <a:p>
            <a:pPr algn="ctr">
              <a:spcAft>
                <a:spcPts val="800"/>
              </a:spcAft>
              <a:defRPr sz="3600" b="1">
                <a:solidFill>
                  <a:srgbClr val="0F172A"/>
                </a:solidFill>
                <a:latin typeface="Segoe UI"/>
              </a:defRPr>
            </a:pPr>
            <a:r>
              <a:t>TERIMA KASIH</a:t>
            </a:r>
          </a:p>
          <a:p>
            <a:pPr algn="ctr">
              <a:defRPr sz="2000" b="1">
                <a:solidFill>
                  <a:srgbClr val="1D4ED8"/>
                </a:solidFill>
                <a:latin typeface="Segoe UI"/>
              </a:defRPr>
            </a:pPr>
            <a:r>
              <a:t>XIN TRÂN TRỌNG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