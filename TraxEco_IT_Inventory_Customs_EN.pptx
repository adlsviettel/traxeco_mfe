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329184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9728" cy="3291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051560"/>
            <a:ext cx="228600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960120"/>
            <a:ext cx="749807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1D4ED8"/>
                </a:solidFill>
                <a:latin typeface="Segoe UI"/>
              </a:defRPr>
            </a:pPr>
            <a:r>
              <a:t>REPUBLIC OF INDONESIA • CUSTOMS REGULATION PER-24/BC/2023</a:t>
            </a:r>
          </a:p>
          <a:p>
            <a:pPr>
              <a:spcAft>
                <a:spcPts val="1000"/>
              </a:spcAft>
              <a:defRPr sz="2600" b="1">
                <a:solidFill>
                  <a:srgbClr val="0F172A"/>
                </a:solidFill>
                <a:latin typeface="Segoe UI"/>
              </a:defRPr>
            </a:pPr>
            <a:r>
              <a:t>IT INVENTORY SYSTEM PRESENTATION</a:t>
            </a:r>
          </a:p>
          <a:p>
            <a:pPr>
              <a:spcAft>
                <a:spcPts val="1800"/>
              </a:spcAft>
              <a:defRPr sz="1350">
                <a:solidFill>
                  <a:srgbClr val="475569"/>
                </a:solidFill>
                <a:latin typeface="Segoe UI"/>
              </a:defRPr>
            </a:pPr>
            <a:r>
              <a:t>Technical &amp; Legal Compliance Report for 5 Mandatory IT Inventory Standards under PER-24/BC/2023</a:t>
            </a:r>
          </a:p>
          <a:p>
            <a:pPr>
              <a:defRPr sz="1200" b="1">
                <a:solidFill>
                  <a:srgbClr val="1D4ED8"/>
                </a:solidFill>
                <a:latin typeface="Segoe UI"/>
              </a:defRPr>
            </a:pPr>
            <a:r>
              <a:t>Warehouse Management &amp; Plant Accounting Department | PT. Trax Apparel Indonesia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3413455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01168" rIns="201168"/>
          <a:lstStyle/>
          <a:p>
            <a:pPr algn="ctr">
              <a:spcAft>
                <a:spcPts val="4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PASAL 2(2)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ENTERPRISE ACCOUNTING SUBSYSTEM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Integrated directly with Enterprise Financial Accounting (AXDB ERP)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97680"/>
            <a:ext cx="341345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4297680"/>
            <a:ext cx="3413455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01168" rIns="201168"/>
          <a:lstStyle/>
          <a:p>
            <a:pPr algn="ctr">
              <a:spcAft>
                <a:spcPts val="4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PASAL 4(1)a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2-YEAR DATA HISTORY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Displays &amp; stores inventory history for at least 2 years prior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97680"/>
            <a:ext cx="341345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4297680"/>
            <a:ext cx="3413455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01168" rIns="201168"/>
          <a:lstStyle/>
          <a:p>
            <a:pPr algn="ctr">
              <a:spcAft>
                <a:spcPts val="4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PASAL 4(1)b.3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KODE BARANG STANDARDS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Consistent item coding matching Customs Declarations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4297680"/>
            <a:ext cx="341345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AGENDA. COMPLIANCE FRAMEWORK PER-24/BC/2023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5 Core Functional Compliance Modules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896112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8961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35608"/>
            <a:ext cx="7315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435608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Inbound Report (Pemasukan) &amp; Customs Declarations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Mandatory recording of Customs declaration numbers (BC 2.0, 2.3, 4.0), invoice details, Import vs TLDDP separation, and 100% item code alignment.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435608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Pasal 4(1)b.1, b.3, b.4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68296"/>
            <a:ext cx="10728655" cy="896112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368296"/>
            <a:ext cx="73152" cy="8961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478024"/>
            <a:ext cx="7315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478024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Outbound Report (Pengeluaran) &amp; Surat Jalan Integration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Outbound declarations (BC 3.0, 2.7, 4.1), internal movement acting as Surat Jalan, and safety data lock for CEISA non-INSW documents.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478024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Pasal 4(1)b.1, b.2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410711"/>
            <a:ext cx="10728655" cy="896112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410711"/>
            <a:ext cx="73152" cy="8961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20439"/>
            <a:ext cx="7315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520439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Inventory Movement (Mutasi) &amp; Stock Opname Automation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Full 7-category inventory ledger; implements 5:00 AM Night Shift Cutoff procedure ensuring 100% alignment with physical warehouse audits.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520439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Pasal 4(1)c &amp; 4(2)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453128"/>
            <a:ext cx="10728655" cy="896112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53128"/>
            <a:ext cx="73152" cy="8961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62856"/>
            <a:ext cx="7315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62856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Adjustment Report (Penyesuaian) &amp; 24/7 API Transmission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Post-stocktaking audit adjustment logs, &gt;2-year historical database, and automated 24/7 continuous API data transmission with Customs.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562856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Pasal 3(1) &amp; 4(1)a, 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495544"/>
            <a:ext cx="10728655" cy="896112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495544"/>
            <a:ext cx="73152" cy="8961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605272"/>
            <a:ext cx="7315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5605272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Enterprise Accounting System Integration (Sistem Informasi Akuntansi)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IT Inventory operates as a closed-loop subsystem of Factory Accounting ERP (AXDB), ensuring cross-audit compliance for Customs &amp; Tax.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5605272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Segoe UI"/>
              </a:defRPr>
            </a:pPr>
            <a:r>
              <a:t>Pasal 2(2) &amp; 4(1)e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01. PASAL 4(1)B.1, B.3, B.4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Inbound Report (PEMASUKAN) &amp; Customs Declaration Data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4937760" cy="960120"/>
          </a:xfrm>
          <a:prstGeom prst="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E40AF"/>
                </a:solidFill>
                <a:latin typeface="Segoe UI"/>
              </a:defRPr>
            </a:pPr>
            <a:r>
              <a:t>1. BUSINESS OVERVIEW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Manages all raw material, machinery, and component inbound flows from overseas (Import) and domestic suppliers (TLDDP).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4937760" cy="1920240"/>
          </a:xfrm>
          <a:prstGeom prst="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B91C1C"/>
                </a:solidFill>
                <a:latin typeface="Segoe UI"/>
              </a:defRPr>
            </a:pPr>
            <a:r>
              <a:t>2. CUSTOMS DECREE MANDATE (PER-24 PASAL 4(1)b.1, b.3, b.4)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• Must record document type, number, and date of Customs import declarations (BC 2.0, BC 2.3, BC 4.0) or VAT invoices (TLDDP).</a:t>
            </a:r>
            <a:br/>
            <a:r>
              <a:t>• Kode Barang MUST match Customs Declarations 100%. Explicitly separate Import vs TLDDP origin and Manufacturing vs Logistics items.</a:t>
            </a:r>
            <a:br/>
            <a:r>
              <a:t>• Attach financial transaction documents (Invoice, Purchase Order).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43400"/>
            <a:ext cx="4937760" cy="1965960"/>
          </a:xfrm>
          <a:prstGeom prst="rect">
            <a:avLst/>
          </a:prstGeom>
          <a:solidFill>
            <a:srgbClr val="F0FDF4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5803D"/>
                </a:solidFill>
                <a:latin typeface="Segoe UI"/>
              </a:defRPr>
            </a:pPr>
            <a:r>
              <a:t>3. IT INVENTORY COMPLIANCE &amp; FULFILLMENT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✔ Auto-links Customs declaration details, invoice numbers, and archives original PDF document library.</a:t>
            </a:r>
            <a:br/>
            <a:r>
              <a:t>✔ Standardizes Item Codes (Kode Barang) matching Customs Declarations &amp; HS Codes 100%; Auto-tags Import vs TLDDP origin on every inventory ledger line.</a:t>
            </a:r>
          </a:p>
        </p:txBody>
      </p:sp>
      <p:pic>
        <p:nvPicPr>
          <p:cNvPr id="9" name="Picture 8" descr="final_slide3_pemasuk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790895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280160"/>
            <a:ext cx="5790895" cy="5029200"/>
          </a:xfrm>
          <a:prstGeom prst="rect">
            <a:avLst/>
          </a:prstGeom>
          <a:noFill/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02. PASAL 4(1)B.1, B.2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Outbound Report (PENGELUARAN) &amp; Surat Jalan Integration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4937760" cy="960120"/>
          </a:xfrm>
          <a:prstGeom prst="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E40AF"/>
                </a:solidFill>
                <a:latin typeface="Segoe UI"/>
              </a:defRPr>
            </a:pPr>
            <a:r>
              <a:t>1. BUSINESS OVERVIEW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Manages raw material production issuances, internal transfers, and finished goods export shipments.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4937760" cy="1920240"/>
          </a:xfrm>
          <a:prstGeom prst="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B91C1C"/>
                </a:solidFill>
                <a:latin typeface="Segoe UI"/>
              </a:defRPr>
            </a:pPr>
            <a:r>
              <a:t>2. CUSTOMS DECREE MANDATE (PER-24 PASAL 4(1)b.1, b.2)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• Must record outbound records with Customs export declaration details (BC 3.0, BC 2.7, BC 4.1) &amp; internal transfer documents serving as Surat Jalan.</a:t>
            </a:r>
            <a:br/>
            <a:r>
              <a:t>• Ensure outbound inventory data aligns 100% between Enterprise Accounting Books and Customs Data Gateway.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43400"/>
            <a:ext cx="4937760" cy="1965960"/>
          </a:xfrm>
          <a:prstGeom prst="rect">
            <a:avLst/>
          </a:prstGeom>
          <a:solidFill>
            <a:srgbClr val="F0FDF4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5803D"/>
                </a:solidFill>
                <a:latin typeface="Segoe UI"/>
              </a:defRPr>
            </a:pPr>
            <a:r>
              <a:t>3. IT INVENTORY COMPLIANCE &amp; FULFILLMENT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✔ Auto-links export declaration details, Surat Jalan numbers, and archives original PDF files.</a:t>
            </a:r>
            <a:br/>
            <a:r>
              <a:t>✔ Auto-detects CEISA 4.0 internal documents, tags them as 🔒 CEISA (Non-INSW), and AUTOMATICALLY LOCKS the Data Transmission Button to eliminate accidental INSW transmission errors.</a:t>
            </a:r>
          </a:p>
        </p:txBody>
      </p:sp>
      <p:pic>
        <p:nvPicPr>
          <p:cNvPr id="9" name="Picture 8" descr="final_slide4_pengeluar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790895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280160"/>
            <a:ext cx="5790895" cy="5029200"/>
          </a:xfrm>
          <a:prstGeom prst="rect">
            <a:avLst/>
          </a:prstGeom>
          <a:noFill/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03. PASAL 4(1)C &amp; 4(2)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Inventory Movement (MUTASI) &amp; Stock Opname Automation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4937760" cy="960120"/>
          </a:xfrm>
          <a:prstGeom prst="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E40AF"/>
                </a:solidFill>
                <a:latin typeface="Segoe UI"/>
              </a:defRPr>
            </a:pPr>
            <a:r>
              <a:t>1. BUSINESS OVERVIEW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Consolidated inventory movement report and physical warehouse stocktaking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4937760" cy="1920240"/>
          </a:xfrm>
          <a:prstGeom prst="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B91C1C"/>
                </a:solidFill>
                <a:latin typeface="Segoe UI"/>
              </a:defRPr>
            </a:pPr>
            <a:r>
              <a:t>2. CUSTOMS DECREE MANDATE (PER-24 PASAL 4(1)c &amp; PASAL 4(2))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• Must generate Mutasi Barang reports recording 7 mandatory categories: Raw Materials, Auxiliaries, WIP, Machinery, Adjustments, Finished Goods, Stock Opname, Rejects, Scrap. (WIP excluded for logistics &amp; services).</a:t>
            </a:r>
            <a:br/>
            <a:r>
              <a:t>• Accounting data recorded MUST match 100% with physical warehouse stock.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43400"/>
            <a:ext cx="4937760" cy="1965960"/>
          </a:xfrm>
          <a:prstGeom prst="rect">
            <a:avLst/>
          </a:prstGeom>
          <a:solidFill>
            <a:srgbClr val="F0FDF4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5803D"/>
                </a:solidFill>
                <a:latin typeface="Segoe UI"/>
              </a:defRPr>
            </a:pPr>
            <a:r>
              <a:t>3. IT INVENTORY COMPLIANCE &amp; FULFILLMENT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✔ Auto-generates closed-loop Mutasi reports covering all 7 mandatory Customs categories.</a:t>
            </a:r>
            <a:br/>
            <a:r>
              <a:t>✔ Implements 5:00 AM Night Shift Cutoff procedure aligning night shift production 100% with physical warehouse stock during Customs audits.</a:t>
            </a:r>
          </a:p>
        </p:txBody>
      </p:sp>
      <p:pic>
        <p:nvPicPr>
          <p:cNvPr id="9" name="Picture 8" descr="final_slide5_stock_op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790895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280160"/>
            <a:ext cx="5790895" cy="5029200"/>
          </a:xfrm>
          <a:prstGeom prst="rect">
            <a:avLst/>
          </a:prstGeom>
          <a:noFill/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04. PASAL 3(1) &amp; PASAL 4(1)A,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Adjustment Report (PENYESUAIAN) &amp; 24/7 API Transmission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4937760" cy="960120"/>
          </a:xfrm>
          <a:prstGeom prst="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E40AF"/>
                </a:solidFill>
                <a:latin typeface="Segoe UI"/>
              </a:defRPr>
            </a:pPr>
            <a:r>
              <a:t>1. BUSINESS OVERVIEW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Records post-stocktaking stock variance adjustments and automated online data connection with Customs API.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4937760" cy="1920240"/>
          </a:xfrm>
          <a:prstGeom prst="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B91C1C"/>
                </a:solidFill>
                <a:latin typeface="Segoe UI"/>
              </a:defRPr>
            </a:pPr>
            <a:r>
              <a:t>2. CUSTOMS DECREE MANDATE (PER-24 PASAL 3(1), PASAL 4(1)a, d)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• Must transparently record Penyesuai stock adjustments. Display activity logs &amp; inventory movements for at least 2 years prior (minimal 2 tahun).</a:t>
            </a:r>
            <a:br/>
            <a:r>
              <a:t>• Automated 24/7 API data transmission directly to Customs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43400"/>
            <a:ext cx="4937760" cy="1965960"/>
          </a:xfrm>
          <a:prstGeom prst="rect">
            <a:avLst/>
          </a:prstGeom>
          <a:solidFill>
            <a:srgbClr val="F0FDF4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5803D"/>
                </a:solidFill>
                <a:latin typeface="Segoe UI"/>
              </a:defRPr>
            </a:pPr>
            <a:r>
              <a:t>3. IT INVENTORY COMPLIANCE &amp; FULFILLMENT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✔ Maintains immutable adjustment audit logs (Penyesuaian Report).</a:t>
            </a:r>
            <a:br/>
            <a:r>
              <a:t>✔ Unlimited historical database (&gt;2 years) with sub-2-second data lookup; 24/7 automated API transmission gateway with Customs.</a:t>
            </a:r>
          </a:p>
        </p:txBody>
      </p:sp>
      <p:pic>
        <p:nvPicPr>
          <p:cNvPr id="9" name="Picture 8" descr="final_slide6_adjust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790895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280160"/>
            <a:ext cx="5790895" cy="5029200"/>
          </a:xfrm>
          <a:prstGeom prst="rect">
            <a:avLst/>
          </a:prstGeom>
          <a:noFill/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Segoe UI"/>
              </a:defRPr>
            </a:pPr>
            <a:r>
              <a:t>05. PASAL 2(2) &amp; PASAL 4(1)E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Enterprise Accounting System Integration (Sistem Informasi Akuntansi)</a:t>
            </a:r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280160" cy="594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4937760" cy="960120"/>
          </a:xfrm>
          <a:prstGeom prst="rect">
            <a:avLst/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E40AF"/>
                </a:solidFill>
                <a:latin typeface="Segoe UI"/>
              </a:defRPr>
            </a:pPr>
            <a:r>
              <a:t>1. BUSINESS OVERVIEW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Closed-loop automated material flow integrated directly into Enterprise Financial Accounting database.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4937760" cy="1920240"/>
          </a:xfrm>
          <a:prstGeom prst="rect">
            <a:avLst/>
          </a:prstGeom>
          <a:solidFill>
            <a:srgbClr val="FEF2F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B91C1C"/>
                </a:solidFill>
                <a:latin typeface="Segoe UI"/>
              </a:defRPr>
            </a:pPr>
            <a:r>
              <a:t>2. CUSTOMS DECREE MANDATE (PER-24 PASAL 2(2) &amp; PASAL 4(1)e)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• IT Inventory MUST be an integrated subsystem of Enterprise Accounting Information System (Sistem Informasi Akuntansi).</a:t>
            </a:r>
            <a:br/>
            <a:r>
              <a:t>• Record data continuously for Financial Statements &amp; Customs/Tax audits. Provide data tracking tax/customs-exempt materials.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43400"/>
            <a:ext cx="4937760" cy="1965960"/>
          </a:xfrm>
          <a:prstGeom prst="rect">
            <a:avLst/>
          </a:prstGeom>
          <a:solidFill>
            <a:srgbClr val="F0FDF4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spcAft>
                <a:spcPts val="200"/>
              </a:spcAft>
              <a:defRPr sz="1050" b="1">
                <a:solidFill>
                  <a:srgbClr val="15803D"/>
                </a:solidFill>
                <a:latin typeface="Segoe UI"/>
              </a:defRPr>
            </a:pPr>
            <a:r>
              <a:t>3. IT INVENTORY COMPLIANCE &amp; FULFILLMENT</a:t>
            </a:r>
          </a:p>
          <a:p>
            <a:pPr>
              <a:defRPr sz="950">
                <a:solidFill>
                  <a:srgbClr val="0F172A"/>
                </a:solidFill>
                <a:latin typeface="Segoe UI"/>
              </a:defRPr>
            </a:pPr>
            <a:r>
              <a:t>✔ Integrated directly with Plant Accounting AXDB ERP, avoiding standalone software or manual Excel files.</a:t>
            </a:r>
            <a:br/>
            <a:r>
              <a:t>✔ 100% closed-loop material lifecycle: Raw Material Receipt ➔ WIP Issuance ➔ FG Receipt ➔ Scrap ➔ Stock Opname.</a:t>
            </a:r>
          </a:p>
        </p:txBody>
      </p:sp>
      <p:pic>
        <p:nvPicPr>
          <p:cNvPr id="9" name="Picture 8" descr="final_slide7_master_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790895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280160"/>
            <a:ext cx="5790895" cy="5029200"/>
          </a:xfrm>
          <a:prstGeom prst="rect">
            <a:avLst/>
          </a:prstGeom>
          <a:noFill/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914400"/>
            <a:ext cx="9448495" cy="5029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109728" cy="5029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645920"/>
            <a:ext cx="4142232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3566160"/>
            <a:ext cx="8534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0F172A"/>
                </a:solidFill>
                <a:latin typeface="Segoe UI"/>
              </a:defRPr>
            </a:pPr>
            <a:r>
              <a:t>QUESTION &amp; ANSWER</a:t>
            </a:r>
          </a:p>
          <a:p>
            <a:pPr algn="ctr">
              <a:defRPr sz="2000" b="1">
                <a:solidFill>
                  <a:srgbClr val="1D4ED8"/>
                </a:solidFill>
                <a:latin typeface="Segoe UI"/>
              </a:defRPr>
            </a:pPr>
            <a:r>
              <a:t>LIVE INQUIRIES &amp; DISCUSSION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914400"/>
            <a:ext cx="9448495" cy="5029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109728" cy="5029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x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828800"/>
            <a:ext cx="4142232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3749039"/>
            <a:ext cx="8534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0F172A"/>
                </a:solidFill>
                <a:latin typeface="Segoe UI"/>
              </a:defRPr>
            </a:pPr>
            <a:r>
              <a:t>TERIMA KASIH</a:t>
            </a:r>
          </a:p>
          <a:p>
            <a:pPr algn="ctr">
              <a:defRPr sz="2000" b="1">
                <a:solidFill>
                  <a:srgbClr val="1D4ED8"/>
                </a:solidFill>
                <a:latin typeface="Segoe UI"/>
              </a:defRPr>
            </a:pPr>
            <a:r>
              <a:t>THANK YOU VERY MUCH!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